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E"/>
                </a:solidFill>
                <a:latin typeface="Calibri"/>
              </a:defRPr>
            </a:pPr>
            <a:r>
              <a:rPr sz="1200" b="0" i="0" u="none" strike="noStrike">
                <a:solidFill>
                  <a:srgbClr val="1B2A2E"/>
                </a:solidFill>
                <a:latin typeface="Calibri"/>
              </a:rPr>
              <a:t>Global E-commerce Sales, 2024–2028 (US$ trillion)</a:t>
            </a:r>
          </a:p>
        </c:rich>
      </c:tx>
      <c:layout/>
      <c:overlay val="0"/>
    </c:title>
    <c:autoTitleDeleted val="0"/>
    <c:plotArea>
      <c:layout/>
      <c:barChart>
        <c:barDir val="col"/>
        <c:grouping val="clustered"/>
        <c:varyColors val="0"/>
        <c:ser>
          <c:idx val="0"/>
          <c:order val="0"/>
          <c:tx>
            <c:strRef>
              <c:f>Sheet1!$B$1</c:f>
              <c:strCache>
                <c:ptCount val="1"/>
                <c:pt idx="0">
                  <c:v>Global e-commerce sales ($ trillion)</c:v>
                </c:pt>
              </c:strCache>
            </c:strRef>
          </c:tx>
          <c:spPr>
            <a:solidFill>
              <a:srgbClr val="028090"/>
            </a:solidFill>
            <a:effectLst/>
          </c:spPr>
          <c:invertIfNegative val="0"/>
          <c:dLbls>
            <c:numFmt formatCode="&quot;$&quot;0.00&quot;T&quot;" sourceLinked="0"/>
            <c:txPr>
              <a:bodyPr/>
              <a:lstStyle/>
              <a:p>
                <a:pPr>
                  <a:defRPr b="0" i="0" strike="noStrike" sz="1000" u="none">
                    <a:solidFill>
                      <a:srgbClr val="1B2A2E"/>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2024</c:v>
                  </c:pt>
                  <c:pt idx="1">
                    <c:v>2025</c:v>
                  </c:pt>
                  <c:pt idx="2">
                    <c:v>2026</c:v>
                  </c:pt>
                  <c:pt idx="3">
                    <c:v>2027</c:v>
                  </c:pt>
                  <c:pt idx="4">
                    <c:v>2028</c:v>
                  </c:pt>
                </c:lvl>
              </c:multiLvlStrCache>
            </c:multiLvlStrRef>
          </c:cat>
          <c:val>
            <c:numRef>
              <c:f>Sheet1!$B$2:$B$6</c:f>
              <c:numCache>
                <c:formatCode>General</c:formatCode>
                <c:ptCount val="5"/>
                <c:pt idx="0">
                  <c:v>6</c:v>
                </c:pt>
                <c:pt idx="1">
                  <c:v>6.42</c:v>
                </c:pt>
                <c:pt idx="2">
                  <c:v>6.88</c:v>
                </c:pt>
                <c:pt idx="3">
                  <c:v>7.4</c:v>
                </c:pt>
                <c:pt idx="4">
                  <c:v>7.89</c:v>
                </c:pt>
              </c:numCache>
            </c:numRef>
          </c:val>
        </c:ser>
        <c:dLbls>
          <c:numFmt formatCode="&quot;$&quot;0.00&quot;T&quot;" sourceLinked="0"/>
          <c:txPr>
            <a:bodyPr/>
            <a:lstStyle/>
            <a:p>
              <a:pPr>
                <a:defRPr b="0" i="0" strike="noStrike" sz="1000" u="none">
                  <a:solidFill>
                    <a:srgbClr val="1B2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37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7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3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covering online shopping — how it works, its pros and cons, safety, payments, and where it's headed. This matters for us because e-commerce keeps growing and shapes how we sell and serve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shopping simply means buying goods or services over the internet instead of in a physical store. Highlight the two big numbers: nearly 2.9 billion people shop online globally, and global e-commerce sales are projected around $6.9 trillion in 2026 — over a fifth of all retail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five-step journey: browse, add to cart, checkout and pay, get confirmation, and receive delivery. Keep it simple — this is the same flow whether it's Amazon, a retailer's app, or a small online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shoppers use different types of platforms depending on need: big marketplaces like Amazon or Alibaba, direct retailer sites, social commerce like TikTok Shop, and niche platforms like Etsy or local delivery apps. Give an example relevant to the audience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six advantages: convenience, better prices, more choice, reviews for confidence, home delivery, and easy returns. Emphasize convenience and choice as the biggest drivers of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previous slide — online shopping has real risks: can't physically check items, fraud and scams, data privacy exposure, delivery problems, return hassles, and the risk of impulse buying. Frame this as 'be informed, not scared.'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common payment methods: cards, digital wallets (PayPal, Apple Pay), UPI/QR codes popular in Asia, cash on delivery, buy-now-pay-later, and bank transfers. Note that offering multiple options improves conversion for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practical tips for anyone shopping online: check for HTTPS and the padlock, stick to trusted sites, use secure payment methods with buyer protection, read reviews, avoid suspicious links, and don't enter card details on public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two-sided impact: businesses gain global reach, lower overhead, and rich customer data, but face more competition and need strong logistics. Consumers gain convenience and choice but need to watch for privacy and scam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chart showing steady growth in global e-commerce sales through 2028. Then cover four trends shaping the future: mobile-first shopping, AI personalization, social commerce, and faster/greener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online shopping is now core to how people buy and businesses sell. We should adopt secure checkout processes, educate our teams and customers on safety, and keep investing in mobile, AI, and social commerce to stay competitive.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note these are the sources behind today's statistics, current as of mid-2026. Offer to share the deck afterward for anyone who wants the detailed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D"/>
        </a:solidFill>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0F3E50"/>
          </a:solidFill>
          <a:ln/>
        </p:spPr>
      </p:sp>
      <p:sp>
        <p:nvSpPr>
          <p:cNvPr id="3" name="Shape 1"/>
          <p:cNvSpPr/>
          <p:nvPr/>
        </p:nvSpPr>
        <p:spPr>
          <a:xfrm>
            <a:off x="-1645920" y="4480560"/>
            <a:ext cx="4023360" cy="4023360"/>
          </a:xfrm>
          <a:prstGeom prst="ellipse">
            <a:avLst/>
          </a:prstGeom>
          <a:solidFill>
            <a:srgbClr val="0F3E50"/>
          </a:solidFill>
          <a:ln/>
        </p:spPr>
      </p:sp>
      <p:sp>
        <p:nvSpPr>
          <p:cNvPr id="4" name="Shape 2"/>
          <p:cNvSpPr/>
          <p:nvPr/>
        </p:nvSpPr>
        <p:spPr>
          <a:xfrm>
            <a:off x="822960" y="777240"/>
            <a:ext cx="777240" cy="777240"/>
          </a:xfrm>
          <a:prstGeom prst="ellipse">
            <a:avLst/>
          </a:prstGeom>
          <a:solidFill>
            <a:srgbClr val="02C39A"/>
          </a:solidFill>
          <a:ln/>
        </p:spPr>
      </p:sp>
      <p:pic>
        <p:nvPicPr>
          <p:cNvPr id="5" name="Image 0" descr="/home/claude/onlineshopping/icons/cart_0B2E3D.png">    </p:cNvPr>
          <p:cNvPicPr>
            <a:picLocks noChangeAspect="1"/>
          </p:cNvPicPr>
          <p:nvPr/>
        </p:nvPicPr>
        <p:blipFill>
          <a:blip r:embed="rId1"/>
          <a:stretch>
            <a:fillRect/>
          </a:stretch>
        </p:blipFill>
        <p:spPr>
          <a:xfrm>
            <a:off x="997839" y="952119"/>
            <a:ext cx="427482" cy="427482"/>
          </a:xfrm>
          <a:prstGeom prst="rect">
            <a:avLst/>
          </a:prstGeom>
        </p:spPr>
      </p:pic>
      <p:sp>
        <p:nvSpPr>
          <p:cNvPr id="6" name="Text 3"/>
          <p:cNvSpPr/>
          <p:nvPr/>
        </p:nvSpPr>
        <p:spPr>
          <a:xfrm>
            <a:off x="777240" y="2514600"/>
            <a:ext cx="96012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ONLINE SHOPPING</a:t>
            </a:r>
            <a:endParaRPr lang="en-US" sz="4600" dirty="0"/>
          </a:p>
        </p:txBody>
      </p:sp>
      <p:sp>
        <p:nvSpPr>
          <p:cNvPr id="7" name="Text 4"/>
          <p:cNvSpPr/>
          <p:nvPr/>
        </p:nvSpPr>
        <p:spPr>
          <a:xfrm>
            <a:off x="822960" y="3429000"/>
            <a:ext cx="8778240" cy="548640"/>
          </a:xfrm>
          <a:prstGeom prst="rect">
            <a:avLst/>
          </a:prstGeom>
          <a:noFill/>
          <a:ln/>
        </p:spPr>
        <p:txBody>
          <a:bodyPr wrap="square" lIns="0" tIns="0" rIns="0" bIns="0" rtlCol="0" anchor="ctr"/>
          <a:lstStyle/>
          <a:p>
            <a:pPr indent="0" marL="0">
              <a:buNone/>
            </a:pPr>
            <a:r>
              <a:rPr lang="en-US" sz="1700" dirty="0">
                <a:solidFill>
                  <a:srgbClr val="CADCE0"/>
                </a:solidFill>
                <a:latin typeface="Calibri" pitchFamily="34" charset="0"/>
                <a:ea typeface="Calibri" pitchFamily="34" charset="-122"/>
                <a:cs typeface="Calibri" pitchFamily="34" charset="-120"/>
              </a:rPr>
              <a:t>How e-commerce works, why it matters, and what it means for our business</a:t>
            </a:r>
            <a:endParaRPr lang="en-US" sz="1700" dirty="0"/>
          </a:p>
        </p:txBody>
      </p:sp>
      <p:sp>
        <p:nvSpPr>
          <p:cNvPr id="8" name="Shape 5"/>
          <p:cNvSpPr/>
          <p:nvPr/>
        </p:nvSpPr>
        <p:spPr>
          <a:xfrm>
            <a:off x="822960" y="4160520"/>
            <a:ext cx="2194560" cy="0"/>
          </a:xfrm>
          <a:prstGeom prst="line">
            <a:avLst/>
          </a:prstGeom>
          <a:noFill/>
          <a:ln w="31750">
            <a:solidFill>
              <a:srgbClr val="02C39A"/>
            </a:solidFill>
            <a:prstDash val="solid"/>
          </a:ln>
        </p:spPr>
      </p:sp>
      <p:sp>
        <p:nvSpPr>
          <p:cNvPr id="9" name="Text 6"/>
          <p:cNvSpPr/>
          <p:nvPr/>
        </p:nvSpPr>
        <p:spPr>
          <a:xfrm>
            <a:off x="822960" y="5989320"/>
            <a:ext cx="7315200" cy="365760"/>
          </a:xfrm>
          <a:prstGeom prst="rect">
            <a:avLst/>
          </a:prstGeom>
          <a:noFill/>
          <a:ln/>
        </p:spPr>
        <p:txBody>
          <a:bodyPr wrap="square" lIns="0" tIns="0" rIns="0" bIns="0" rtlCol="0" anchor="ctr"/>
          <a:lstStyle/>
          <a:p>
            <a:pPr indent="0" marL="0">
              <a:buNone/>
            </a:pPr>
            <a:r>
              <a:rPr lang="en-US" sz="1250" dirty="0">
                <a:solidFill>
                  <a:srgbClr val="8FAAB0"/>
                </a:solidFill>
                <a:latin typeface="Calibri" pitchFamily="34" charset="0"/>
                <a:ea typeface="Calibri" pitchFamily="34" charset="-122"/>
                <a:cs typeface="Calibri" pitchFamily="34" charset="-120"/>
              </a:rPr>
              <a:t>Prepared for Office Briefing  •  August 2026</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What Is Online Shopping?</a:t>
            </a:r>
            <a:endParaRPr lang="en-US" sz="3200" dirty="0"/>
          </a:p>
        </p:txBody>
      </p:sp>
      <p:sp>
        <p:nvSpPr>
          <p:cNvPr id="3" name="Text 1"/>
          <p:cNvSpPr/>
          <p:nvPr/>
        </p:nvSpPr>
        <p:spPr>
          <a:xfrm>
            <a:off x="548640" y="1234440"/>
            <a:ext cx="6492240" cy="914400"/>
          </a:xfrm>
          <a:prstGeom prst="rect">
            <a:avLst/>
          </a:prstGeom>
          <a:noFill/>
          <a:ln/>
        </p:spPr>
        <p:txBody>
          <a:bodyPr wrap="square" lIns="0" tIns="0" rIns="0" bIns="0" rtlCol="0" anchor="ctr"/>
          <a:lstStyle/>
          <a:p>
            <a:pPr indent="0" marL="0">
              <a:lnSpc>
                <a:spcPct val="125000"/>
              </a:lnSpc>
              <a:buNone/>
            </a:pPr>
            <a:r>
              <a:rPr lang="en-US" sz="1500" b="1" dirty="0">
                <a:solidFill>
                  <a:srgbClr val="1B2A2E"/>
                </a:solidFill>
                <a:latin typeface="Calibri" pitchFamily="34" charset="0"/>
                <a:ea typeface="Calibri" pitchFamily="34" charset="-122"/>
                <a:cs typeface="Calibri" pitchFamily="34" charset="-120"/>
              </a:rPr>
              <a:t>Online shopping </a:t>
            </a:r>
            <a:pPr indent="0" marL="0">
              <a:lnSpc>
                <a:spcPct val="125000"/>
              </a:lnSpc>
              <a:buNone/>
            </a:pPr>
            <a:r>
              <a:rPr lang="en-US" sz="1500" dirty="0">
                <a:solidFill>
                  <a:srgbClr val="1B2A2E"/>
                </a:solidFill>
                <a:latin typeface="Calibri" pitchFamily="34" charset="0"/>
                <a:ea typeface="Calibri" pitchFamily="34" charset="-122"/>
                <a:cs typeface="Calibri" pitchFamily="34" charset="-120"/>
              </a:rPr>
              <a:t>is the process of buying goods or services over the internet, using a website, app, or marketplace — instead of visiting a physical store.</a:t>
            </a:r>
            <a:endParaRPr lang="en-US" sz="1500" dirty="0"/>
          </a:p>
        </p:txBody>
      </p:sp>
      <p:sp>
        <p:nvSpPr>
          <p:cNvPr id="4" name="Shape 2"/>
          <p:cNvSpPr/>
          <p:nvPr/>
        </p:nvSpPr>
        <p:spPr>
          <a:xfrm>
            <a:off x="548640" y="2331720"/>
            <a:ext cx="502920" cy="502920"/>
          </a:xfrm>
          <a:prstGeom prst="ellipse">
            <a:avLst/>
          </a:prstGeom>
          <a:solidFill>
            <a:srgbClr val="028090"/>
          </a:solidFill>
          <a:ln/>
        </p:spPr>
      </p:sp>
      <p:pic>
        <p:nvPicPr>
          <p:cNvPr id="5" name="Image 0" descr="/home/claude/onlineshopping/icons/globe_FFFFFF.png">    </p:cNvPr>
          <p:cNvPicPr>
            <a:picLocks noChangeAspect="1"/>
          </p:cNvPicPr>
          <p:nvPr/>
        </p:nvPicPr>
        <p:blipFill>
          <a:blip r:embed="rId1"/>
          <a:stretch>
            <a:fillRect/>
          </a:stretch>
        </p:blipFill>
        <p:spPr>
          <a:xfrm>
            <a:off x="654253" y="2437333"/>
            <a:ext cx="291694" cy="291694"/>
          </a:xfrm>
          <a:prstGeom prst="rect">
            <a:avLst/>
          </a:prstGeom>
        </p:spPr>
      </p:pic>
      <p:sp>
        <p:nvSpPr>
          <p:cNvPr id="6" name="Text 3"/>
          <p:cNvSpPr/>
          <p:nvPr/>
        </p:nvSpPr>
        <p:spPr>
          <a:xfrm>
            <a:off x="1234440" y="2304288"/>
            <a:ext cx="5029200" cy="320040"/>
          </a:xfrm>
          <a:prstGeom prst="rect">
            <a:avLst/>
          </a:prstGeom>
          <a:noFill/>
          <a:ln/>
        </p:spPr>
        <p:txBody>
          <a:bodyPr wrap="square" lIns="0" tIns="0" rIns="0" bIns="0" rtlCol="0" anchor="ctr"/>
          <a:lstStyle/>
          <a:p>
            <a:pPr indent="0" marL="0">
              <a:buNone/>
            </a:pPr>
            <a:r>
              <a:rPr lang="en-US" sz="1450" b="1" dirty="0">
                <a:solidFill>
                  <a:srgbClr val="1B2A2E"/>
                </a:solidFill>
                <a:latin typeface="Calibri" pitchFamily="34" charset="0"/>
                <a:ea typeface="Calibri" pitchFamily="34" charset="-122"/>
                <a:cs typeface="Calibri" pitchFamily="34" charset="-120"/>
              </a:rPr>
              <a:t>Anywhere access</a:t>
            </a:r>
            <a:endParaRPr lang="en-US" sz="1450" dirty="0"/>
          </a:p>
        </p:txBody>
      </p:sp>
      <p:sp>
        <p:nvSpPr>
          <p:cNvPr id="7" name="Text 4"/>
          <p:cNvSpPr/>
          <p:nvPr/>
        </p:nvSpPr>
        <p:spPr>
          <a:xfrm>
            <a:off x="1234440" y="2624328"/>
            <a:ext cx="5806440" cy="457200"/>
          </a:xfrm>
          <a:prstGeom prst="rect">
            <a:avLst/>
          </a:prstGeom>
          <a:noFill/>
          <a:ln/>
        </p:spPr>
        <p:txBody>
          <a:bodyPr wrap="square" lIns="0" tIns="0" rIns="0" bIns="0" rtlCol="0" anchor="ctr"/>
          <a:lstStyle/>
          <a:p>
            <a:pPr indent="0" marL="0">
              <a:buNone/>
            </a:pPr>
            <a:r>
              <a:rPr lang="en-US" sz="1250" dirty="0">
                <a:solidFill>
                  <a:srgbClr val="5C7378"/>
                </a:solidFill>
                <a:latin typeface="Calibri" pitchFamily="34" charset="0"/>
                <a:ea typeface="Calibri" pitchFamily="34" charset="-122"/>
                <a:cs typeface="Calibri" pitchFamily="34" charset="-120"/>
              </a:rPr>
              <a:t>Shop from home, office, or on the move — 24/7, any device.</a:t>
            </a:r>
            <a:endParaRPr lang="en-US" sz="1250" dirty="0"/>
          </a:p>
        </p:txBody>
      </p:sp>
      <p:sp>
        <p:nvSpPr>
          <p:cNvPr id="8" name="Shape 5"/>
          <p:cNvSpPr/>
          <p:nvPr/>
        </p:nvSpPr>
        <p:spPr>
          <a:xfrm>
            <a:off x="548640" y="3383280"/>
            <a:ext cx="502920" cy="502920"/>
          </a:xfrm>
          <a:prstGeom prst="ellipse">
            <a:avLst/>
          </a:prstGeom>
          <a:solidFill>
            <a:srgbClr val="028090"/>
          </a:solidFill>
          <a:ln/>
        </p:spPr>
      </p:sp>
      <p:pic>
        <p:nvPicPr>
          <p:cNvPr id="9" name="Image 1" descr="/home/claude/onlineshopping/icons/cart_FFFFFF.png">    </p:cNvPr>
          <p:cNvPicPr>
            <a:picLocks noChangeAspect="1"/>
          </p:cNvPicPr>
          <p:nvPr/>
        </p:nvPicPr>
        <p:blipFill>
          <a:blip r:embed="rId2"/>
          <a:stretch>
            <a:fillRect/>
          </a:stretch>
        </p:blipFill>
        <p:spPr>
          <a:xfrm>
            <a:off x="654253" y="3488893"/>
            <a:ext cx="291694" cy="291694"/>
          </a:xfrm>
          <a:prstGeom prst="rect">
            <a:avLst/>
          </a:prstGeom>
        </p:spPr>
      </p:pic>
      <p:sp>
        <p:nvSpPr>
          <p:cNvPr id="10" name="Text 6"/>
          <p:cNvSpPr/>
          <p:nvPr/>
        </p:nvSpPr>
        <p:spPr>
          <a:xfrm>
            <a:off x="1234440" y="3355848"/>
            <a:ext cx="5029200" cy="320040"/>
          </a:xfrm>
          <a:prstGeom prst="rect">
            <a:avLst/>
          </a:prstGeom>
          <a:noFill/>
          <a:ln/>
        </p:spPr>
        <p:txBody>
          <a:bodyPr wrap="square" lIns="0" tIns="0" rIns="0" bIns="0" rtlCol="0" anchor="ctr"/>
          <a:lstStyle/>
          <a:p>
            <a:pPr indent="0" marL="0">
              <a:buNone/>
            </a:pPr>
            <a:r>
              <a:rPr lang="en-US" sz="1450" b="1" dirty="0">
                <a:solidFill>
                  <a:srgbClr val="1B2A2E"/>
                </a:solidFill>
                <a:latin typeface="Calibri" pitchFamily="34" charset="0"/>
                <a:ea typeface="Calibri" pitchFamily="34" charset="-122"/>
                <a:cs typeface="Calibri" pitchFamily="34" charset="-120"/>
              </a:rPr>
              <a:t>Digital catalog</a:t>
            </a:r>
            <a:endParaRPr lang="en-US" sz="1450" dirty="0"/>
          </a:p>
        </p:txBody>
      </p:sp>
      <p:sp>
        <p:nvSpPr>
          <p:cNvPr id="11" name="Text 7"/>
          <p:cNvSpPr/>
          <p:nvPr/>
        </p:nvSpPr>
        <p:spPr>
          <a:xfrm>
            <a:off x="1234440" y="3675888"/>
            <a:ext cx="5806440" cy="457200"/>
          </a:xfrm>
          <a:prstGeom prst="rect">
            <a:avLst/>
          </a:prstGeom>
          <a:noFill/>
          <a:ln/>
        </p:spPr>
        <p:txBody>
          <a:bodyPr wrap="square" lIns="0" tIns="0" rIns="0" bIns="0" rtlCol="0" anchor="ctr"/>
          <a:lstStyle/>
          <a:p>
            <a:pPr indent="0" marL="0">
              <a:buNone/>
            </a:pPr>
            <a:r>
              <a:rPr lang="en-US" sz="1250" dirty="0">
                <a:solidFill>
                  <a:srgbClr val="5C7378"/>
                </a:solidFill>
                <a:latin typeface="Calibri" pitchFamily="34" charset="0"/>
                <a:ea typeface="Calibri" pitchFamily="34" charset="-122"/>
                <a:cs typeface="Calibri" pitchFamily="34" charset="-120"/>
              </a:rPr>
              <a:t>Browse, compare, and buy from millions of products instantly.</a:t>
            </a:r>
            <a:endParaRPr lang="en-US" sz="1250" dirty="0"/>
          </a:p>
        </p:txBody>
      </p:sp>
      <p:sp>
        <p:nvSpPr>
          <p:cNvPr id="12" name="Shape 8"/>
          <p:cNvSpPr/>
          <p:nvPr/>
        </p:nvSpPr>
        <p:spPr>
          <a:xfrm>
            <a:off x="548640" y="4434840"/>
            <a:ext cx="502920" cy="502920"/>
          </a:xfrm>
          <a:prstGeom prst="ellipse">
            <a:avLst/>
          </a:prstGeom>
          <a:solidFill>
            <a:srgbClr val="028090"/>
          </a:solidFill>
          <a:ln/>
        </p:spPr>
      </p:sp>
      <p:pic>
        <p:nvPicPr>
          <p:cNvPr id="13" name="Image 2" descr="/home/claude/onlineshopping/icons/truck_FFFFFF.png">    </p:cNvPr>
          <p:cNvPicPr>
            <a:picLocks noChangeAspect="1"/>
          </p:cNvPicPr>
          <p:nvPr/>
        </p:nvPicPr>
        <p:blipFill>
          <a:blip r:embed="rId3"/>
          <a:stretch>
            <a:fillRect/>
          </a:stretch>
        </p:blipFill>
        <p:spPr>
          <a:xfrm>
            <a:off x="654253" y="4540453"/>
            <a:ext cx="291694" cy="291694"/>
          </a:xfrm>
          <a:prstGeom prst="rect">
            <a:avLst/>
          </a:prstGeom>
        </p:spPr>
      </p:pic>
      <p:sp>
        <p:nvSpPr>
          <p:cNvPr id="14" name="Text 9"/>
          <p:cNvSpPr/>
          <p:nvPr/>
        </p:nvSpPr>
        <p:spPr>
          <a:xfrm>
            <a:off x="1234440" y="4407408"/>
            <a:ext cx="5029200" cy="320040"/>
          </a:xfrm>
          <a:prstGeom prst="rect">
            <a:avLst/>
          </a:prstGeom>
          <a:noFill/>
          <a:ln/>
        </p:spPr>
        <p:txBody>
          <a:bodyPr wrap="square" lIns="0" tIns="0" rIns="0" bIns="0" rtlCol="0" anchor="ctr"/>
          <a:lstStyle/>
          <a:p>
            <a:pPr indent="0" marL="0">
              <a:buNone/>
            </a:pPr>
            <a:r>
              <a:rPr lang="en-US" sz="1450" b="1" dirty="0">
                <a:solidFill>
                  <a:srgbClr val="1B2A2E"/>
                </a:solidFill>
                <a:latin typeface="Calibri" pitchFamily="34" charset="0"/>
                <a:ea typeface="Calibri" pitchFamily="34" charset="-122"/>
                <a:cs typeface="Calibri" pitchFamily="34" charset="-120"/>
              </a:rPr>
              <a:t>Delivered to you</a:t>
            </a:r>
            <a:endParaRPr lang="en-US" sz="1450" dirty="0"/>
          </a:p>
        </p:txBody>
      </p:sp>
      <p:sp>
        <p:nvSpPr>
          <p:cNvPr id="15" name="Text 10"/>
          <p:cNvSpPr/>
          <p:nvPr/>
        </p:nvSpPr>
        <p:spPr>
          <a:xfrm>
            <a:off x="1234440" y="4727448"/>
            <a:ext cx="5806440" cy="457200"/>
          </a:xfrm>
          <a:prstGeom prst="rect">
            <a:avLst/>
          </a:prstGeom>
          <a:noFill/>
          <a:ln/>
        </p:spPr>
        <p:txBody>
          <a:bodyPr wrap="square" lIns="0" tIns="0" rIns="0" bIns="0" rtlCol="0" anchor="ctr"/>
          <a:lstStyle/>
          <a:p>
            <a:pPr indent="0" marL="0">
              <a:buNone/>
            </a:pPr>
            <a:r>
              <a:rPr lang="en-US" sz="1250" dirty="0">
                <a:solidFill>
                  <a:srgbClr val="5C7378"/>
                </a:solidFill>
                <a:latin typeface="Calibri" pitchFamily="34" charset="0"/>
                <a:ea typeface="Calibri" pitchFamily="34" charset="-122"/>
                <a:cs typeface="Calibri" pitchFamily="34" charset="-120"/>
              </a:rPr>
              <a:t>Items are shipped directly to your doorstep or picked up locally.</a:t>
            </a:r>
            <a:endParaRPr lang="en-US" sz="1250" dirty="0"/>
          </a:p>
        </p:txBody>
      </p:sp>
      <p:sp>
        <p:nvSpPr>
          <p:cNvPr id="16" name="Shape 11"/>
          <p:cNvSpPr/>
          <p:nvPr/>
        </p:nvSpPr>
        <p:spPr>
          <a:xfrm>
            <a:off x="7452360" y="1234440"/>
            <a:ext cx="4160520" cy="4663440"/>
          </a:xfrm>
          <a:prstGeom prst="roundRect">
            <a:avLst>
              <a:gd name="adj" fmla="val 2637"/>
            </a:avLst>
          </a:prstGeom>
          <a:solidFill>
            <a:srgbClr val="0B2E3D"/>
          </a:solidFill>
          <a:ln/>
        </p:spPr>
      </p:sp>
      <p:sp>
        <p:nvSpPr>
          <p:cNvPr id="17" name="Shape 12"/>
          <p:cNvSpPr/>
          <p:nvPr/>
        </p:nvSpPr>
        <p:spPr>
          <a:xfrm>
            <a:off x="7818120" y="1600200"/>
            <a:ext cx="548640" cy="548640"/>
          </a:xfrm>
          <a:prstGeom prst="ellipse">
            <a:avLst/>
          </a:prstGeom>
          <a:solidFill>
            <a:srgbClr val="02C39A"/>
          </a:solidFill>
          <a:ln/>
        </p:spPr>
      </p:sp>
      <p:pic>
        <p:nvPicPr>
          <p:cNvPr id="18" name="Image 3" descr="/home/claude/onlineshopping/icons/users_0B2E3D.png">    </p:cNvPr>
          <p:cNvPicPr>
            <a:picLocks noChangeAspect="1"/>
          </p:cNvPicPr>
          <p:nvPr/>
        </p:nvPicPr>
        <p:blipFill>
          <a:blip r:embed="rId4"/>
          <a:stretch>
            <a:fillRect/>
          </a:stretch>
        </p:blipFill>
        <p:spPr>
          <a:xfrm>
            <a:off x="7933334" y="1715414"/>
            <a:ext cx="318211" cy="318211"/>
          </a:xfrm>
          <a:prstGeom prst="rect">
            <a:avLst/>
          </a:prstGeom>
        </p:spPr>
      </p:pic>
      <p:sp>
        <p:nvSpPr>
          <p:cNvPr id="19" name="Text 13"/>
          <p:cNvSpPr/>
          <p:nvPr/>
        </p:nvSpPr>
        <p:spPr>
          <a:xfrm>
            <a:off x="7726680" y="2331720"/>
            <a:ext cx="35661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2.86 billion</a:t>
            </a:r>
            <a:endParaRPr lang="en-US" sz="3400" dirty="0"/>
          </a:p>
        </p:txBody>
      </p:sp>
      <p:sp>
        <p:nvSpPr>
          <p:cNvPr id="20" name="Text 14"/>
          <p:cNvSpPr/>
          <p:nvPr/>
        </p:nvSpPr>
        <p:spPr>
          <a:xfrm>
            <a:off x="7726680" y="2971800"/>
            <a:ext cx="3566160" cy="640080"/>
          </a:xfrm>
          <a:prstGeom prst="rect">
            <a:avLst/>
          </a:prstGeom>
          <a:noFill/>
          <a:ln/>
        </p:spPr>
        <p:txBody>
          <a:bodyPr wrap="square" lIns="0" tIns="0" rIns="0" bIns="0" rtlCol="0" anchor="ctr"/>
          <a:lstStyle/>
          <a:p>
            <a:pPr indent="0" marL="0">
              <a:buNone/>
            </a:pPr>
            <a:r>
              <a:rPr lang="en-US" sz="1250" dirty="0">
                <a:solidFill>
                  <a:srgbClr val="CADCE0"/>
                </a:solidFill>
                <a:latin typeface="Calibri" pitchFamily="34" charset="0"/>
                <a:ea typeface="Calibri" pitchFamily="34" charset="-122"/>
                <a:cs typeface="Calibri" pitchFamily="34" charset="-120"/>
              </a:rPr>
              <a:t>people shop online worldwide — about 1 in 3 people on Earth</a:t>
            </a:r>
            <a:endParaRPr lang="en-US" sz="1250" dirty="0"/>
          </a:p>
        </p:txBody>
      </p:sp>
      <p:sp>
        <p:nvSpPr>
          <p:cNvPr id="21" name="Shape 15"/>
          <p:cNvSpPr/>
          <p:nvPr/>
        </p:nvSpPr>
        <p:spPr>
          <a:xfrm>
            <a:off x="7726680" y="3794760"/>
            <a:ext cx="3566160" cy="0"/>
          </a:xfrm>
          <a:prstGeom prst="line">
            <a:avLst/>
          </a:prstGeom>
          <a:noFill/>
          <a:ln w="12700">
            <a:solidFill>
              <a:srgbClr val="1F4E5C"/>
            </a:solidFill>
            <a:prstDash val="solid"/>
          </a:ln>
        </p:spPr>
      </p:sp>
      <p:sp>
        <p:nvSpPr>
          <p:cNvPr id="22" name="Text 16"/>
          <p:cNvSpPr/>
          <p:nvPr/>
        </p:nvSpPr>
        <p:spPr>
          <a:xfrm>
            <a:off x="7726680" y="3977640"/>
            <a:ext cx="3566160" cy="548640"/>
          </a:xfrm>
          <a:prstGeom prst="rect">
            <a:avLst/>
          </a:prstGeom>
          <a:noFill/>
          <a:ln/>
        </p:spPr>
        <p:txBody>
          <a:bodyPr wrap="square" lIns="0" tIns="0" rIns="0" bIns="0"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$6.9 trillion</a:t>
            </a:r>
            <a:endParaRPr lang="en-US" sz="2800" dirty="0"/>
          </a:p>
        </p:txBody>
      </p:sp>
      <p:sp>
        <p:nvSpPr>
          <p:cNvPr id="23" name="Text 17"/>
          <p:cNvSpPr/>
          <p:nvPr/>
        </p:nvSpPr>
        <p:spPr>
          <a:xfrm>
            <a:off x="7726680" y="4526280"/>
            <a:ext cx="3566160" cy="822960"/>
          </a:xfrm>
          <a:prstGeom prst="rect">
            <a:avLst/>
          </a:prstGeom>
          <a:noFill/>
          <a:ln/>
        </p:spPr>
        <p:txBody>
          <a:bodyPr wrap="square" lIns="0" tIns="0" rIns="0" bIns="0" rtlCol="0" anchor="ctr"/>
          <a:lstStyle/>
          <a:p>
            <a:pPr indent="0" marL="0">
              <a:buNone/>
            </a:pPr>
            <a:r>
              <a:rPr lang="en-US" sz="1250" dirty="0">
                <a:solidFill>
                  <a:srgbClr val="CADCE0"/>
                </a:solidFill>
                <a:latin typeface="Calibri" pitchFamily="34" charset="0"/>
                <a:ea typeface="Calibri" pitchFamily="34" charset="-122"/>
                <a:cs typeface="Calibri" pitchFamily="34" charset="-120"/>
              </a:rPr>
              <a:t>in global e-commerce sales projected for 2026 — over 21% of all retail</a:t>
            </a:r>
            <a:endParaRPr lang="en-US" sz="1250" dirty="0"/>
          </a:p>
        </p:txBody>
      </p:sp>
      <p:sp>
        <p:nvSpPr>
          <p:cNvPr id="24" name="Text 18"/>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25" name="Text 19"/>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6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3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40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How Online Shopping Works</a:t>
            </a:r>
            <a:endParaRPr lang="en-US" sz="3200" dirty="0"/>
          </a:p>
        </p:txBody>
      </p:sp>
      <p:sp>
        <p:nvSpPr>
          <p:cNvPr id="3" name="Text 1"/>
          <p:cNvSpPr/>
          <p:nvPr/>
        </p:nvSpPr>
        <p:spPr>
          <a:xfrm>
            <a:off x="548640" y="1005840"/>
            <a:ext cx="9144000" cy="365760"/>
          </a:xfrm>
          <a:prstGeom prst="rect">
            <a:avLst/>
          </a:prstGeom>
          <a:noFill/>
          <a:ln/>
        </p:spPr>
        <p:txBody>
          <a:bodyPr wrap="square" lIns="0" tIns="0" rIns="0" bIns="0" rtlCol="0" anchor="ctr"/>
          <a:lstStyle/>
          <a:p>
            <a:pPr indent="0" marL="0">
              <a:buNone/>
            </a:pPr>
            <a:r>
              <a:rPr lang="en-US" sz="1350" dirty="0">
                <a:solidFill>
                  <a:srgbClr val="5C7378"/>
                </a:solidFill>
                <a:latin typeface="Calibri" pitchFamily="34" charset="0"/>
                <a:ea typeface="Calibri" pitchFamily="34" charset="-122"/>
                <a:cs typeface="Calibri" pitchFamily="34" charset="-120"/>
              </a:rPr>
              <a:t>A simple five-step journey from browsing to delivery</a:t>
            </a:r>
            <a:endParaRPr lang="en-US" sz="1350" dirty="0"/>
          </a:p>
        </p:txBody>
      </p:sp>
      <p:sp>
        <p:nvSpPr>
          <p:cNvPr id="4" name="Shape 2"/>
          <p:cNvSpPr/>
          <p:nvPr/>
        </p:nvSpPr>
        <p:spPr>
          <a:xfrm>
            <a:off x="548640" y="1965960"/>
            <a:ext cx="2084832" cy="3383280"/>
          </a:xfrm>
          <a:prstGeom prst="roundRect">
            <a:avLst>
              <a:gd name="adj" fmla="val 4386"/>
            </a:avLst>
          </a:prstGeom>
          <a:solidFill>
            <a:srgbClr val="F2F7F6"/>
          </a:solidFill>
          <a:ln w="12700">
            <a:solidFill>
              <a:srgbClr val="DCE7E6"/>
            </a:solidFill>
            <a:prstDash val="solid"/>
          </a:ln>
        </p:spPr>
      </p:sp>
      <p:sp>
        <p:nvSpPr>
          <p:cNvPr id="5" name="Shape 3"/>
          <p:cNvSpPr/>
          <p:nvPr/>
        </p:nvSpPr>
        <p:spPr>
          <a:xfrm>
            <a:off x="1389888" y="2221992"/>
            <a:ext cx="402336" cy="402336"/>
          </a:xfrm>
          <a:prstGeom prst="ellipse">
            <a:avLst/>
          </a:prstGeom>
          <a:solidFill>
            <a:srgbClr val="028090"/>
          </a:solidFill>
          <a:ln/>
        </p:spPr>
      </p:sp>
      <p:sp>
        <p:nvSpPr>
          <p:cNvPr id="6" name="Text 4"/>
          <p:cNvSpPr/>
          <p:nvPr/>
        </p:nvSpPr>
        <p:spPr>
          <a:xfrm>
            <a:off x="1389888" y="22219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1307592" y="2834640"/>
            <a:ext cx="566928" cy="566928"/>
          </a:xfrm>
          <a:prstGeom prst="ellipse">
            <a:avLst/>
          </a:prstGeom>
          <a:solidFill>
            <a:srgbClr val="00A896"/>
          </a:solidFill>
          <a:ln/>
        </p:spPr>
      </p:sp>
      <p:pic>
        <p:nvPicPr>
          <p:cNvPr id="8" name="Image 0" descr="/home/claude/onlineshopping/icons/search_FFFFFF.png">    </p:cNvPr>
          <p:cNvPicPr>
            <a:picLocks noChangeAspect="1"/>
          </p:cNvPicPr>
          <p:nvPr/>
        </p:nvPicPr>
        <p:blipFill>
          <a:blip r:embed="rId1"/>
          <a:stretch>
            <a:fillRect/>
          </a:stretch>
        </p:blipFill>
        <p:spPr>
          <a:xfrm>
            <a:off x="1426647" y="2953695"/>
            <a:ext cx="328818" cy="328818"/>
          </a:xfrm>
          <a:prstGeom prst="rect">
            <a:avLst/>
          </a:prstGeom>
        </p:spPr>
      </p:pic>
      <p:sp>
        <p:nvSpPr>
          <p:cNvPr id="9" name="Text 6"/>
          <p:cNvSpPr/>
          <p:nvPr/>
        </p:nvSpPr>
        <p:spPr>
          <a:xfrm>
            <a:off x="658368" y="3657600"/>
            <a:ext cx="1865376" cy="365760"/>
          </a:xfrm>
          <a:prstGeom prst="rect">
            <a:avLst/>
          </a:prstGeom>
          <a:noFill/>
          <a:ln/>
        </p:spPr>
        <p:txBody>
          <a:bodyPr wrap="square" lIns="0" tIns="0" rIns="0" bIns="0" rtlCol="0" anchor="ctr"/>
          <a:lstStyle/>
          <a:p>
            <a:pPr algn="ctr" indent="0" marL="0">
              <a:buNone/>
            </a:pPr>
            <a:r>
              <a:rPr lang="en-US" sz="1450" b="1" dirty="0">
                <a:solidFill>
                  <a:srgbClr val="1B2A2E"/>
                </a:solidFill>
                <a:latin typeface="Calibri" pitchFamily="34" charset="0"/>
                <a:ea typeface="Calibri" pitchFamily="34" charset="-122"/>
                <a:cs typeface="Calibri" pitchFamily="34" charset="-120"/>
              </a:rPr>
              <a:t>Browse</a:t>
            </a:r>
            <a:endParaRPr lang="en-US" sz="1450" dirty="0"/>
          </a:p>
        </p:txBody>
      </p:sp>
      <p:sp>
        <p:nvSpPr>
          <p:cNvPr id="10" name="Text 7"/>
          <p:cNvSpPr/>
          <p:nvPr/>
        </p:nvSpPr>
        <p:spPr>
          <a:xfrm>
            <a:off x="685800" y="4050792"/>
            <a:ext cx="1810512" cy="1143000"/>
          </a:xfrm>
          <a:prstGeom prst="rect">
            <a:avLst/>
          </a:prstGeom>
          <a:noFill/>
          <a:ln/>
        </p:spPr>
        <p:txBody>
          <a:bodyPr wrap="square" lIns="0" tIns="0" rIns="0" bIns="0" rtlCol="0" anchor="ctr"/>
          <a:lstStyle/>
          <a:p>
            <a:pPr algn="ctr" indent="0" marL="0">
              <a:lnSpc>
                <a:spcPct val="115000"/>
              </a:lnSpc>
              <a:buNone/>
            </a:pPr>
            <a:r>
              <a:rPr lang="en-US" sz="1100" dirty="0">
                <a:solidFill>
                  <a:srgbClr val="5C7378"/>
                </a:solidFill>
                <a:latin typeface="Calibri" pitchFamily="34" charset="0"/>
                <a:ea typeface="Calibri" pitchFamily="34" charset="-122"/>
                <a:cs typeface="Calibri" pitchFamily="34" charset="-120"/>
              </a:rPr>
              <a:t>Customer searches a site, app, or marketplace for a product.</a:t>
            </a:r>
            <a:endParaRPr lang="en-US" sz="1100" dirty="0"/>
          </a:p>
        </p:txBody>
      </p:sp>
      <p:sp>
        <p:nvSpPr>
          <p:cNvPr id="11" name="Text 8"/>
          <p:cNvSpPr/>
          <p:nvPr/>
        </p:nvSpPr>
        <p:spPr>
          <a:xfrm>
            <a:off x="2606040" y="3429000"/>
            <a:ext cx="228600" cy="457200"/>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2" name="Shape 9"/>
          <p:cNvSpPr/>
          <p:nvPr/>
        </p:nvSpPr>
        <p:spPr>
          <a:xfrm>
            <a:off x="2807208" y="1965960"/>
            <a:ext cx="2084832" cy="3383280"/>
          </a:xfrm>
          <a:prstGeom prst="roundRect">
            <a:avLst>
              <a:gd name="adj" fmla="val 4386"/>
            </a:avLst>
          </a:prstGeom>
          <a:solidFill>
            <a:srgbClr val="FFFFFF"/>
          </a:solidFill>
          <a:ln w="12700">
            <a:solidFill>
              <a:srgbClr val="DCE7E6"/>
            </a:solidFill>
            <a:prstDash val="solid"/>
          </a:ln>
        </p:spPr>
      </p:sp>
      <p:sp>
        <p:nvSpPr>
          <p:cNvPr id="13" name="Shape 10"/>
          <p:cNvSpPr/>
          <p:nvPr/>
        </p:nvSpPr>
        <p:spPr>
          <a:xfrm>
            <a:off x="3648456" y="2221992"/>
            <a:ext cx="402336" cy="402336"/>
          </a:xfrm>
          <a:prstGeom prst="ellipse">
            <a:avLst/>
          </a:prstGeom>
          <a:solidFill>
            <a:srgbClr val="028090"/>
          </a:solidFill>
          <a:ln/>
        </p:spPr>
      </p:sp>
      <p:sp>
        <p:nvSpPr>
          <p:cNvPr id="14" name="Text 11"/>
          <p:cNvSpPr/>
          <p:nvPr/>
        </p:nvSpPr>
        <p:spPr>
          <a:xfrm>
            <a:off x="3648456" y="22219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Shape 12"/>
          <p:cNvSpPr/>
          <p:nvPr/>
        </p:nvSpPr>
        <p:spPr>
          <a:xfrm>
            <a:off x="3566160" y="2834640"/>
            <a:ext cx="566928" cy="566928"/>
          </a:xfrm>
          <a:prstGeom prst="ellipse">
            <a:avLst/>
          </a:prstGeom>
          <a:solidFill>
            <a:srgbClr val="00A896"/>
          </a:solidFill>
          <a:ln/>
        </p:spPr>
      </p:sp>
      <p:pic>
        <p:nvPicPr>
          <p:cNvPr id="16" name="Image 1" descr="/home/claude/onlineshopping/icons/cart_FFFFFF.png">    </p:cNvPr>
          <p:cNvPicPr>
            <a:picLocks noChangeAspect="1"/>
          </p:cNvPicPr>
          <p:nvPr/>
        </p:nvPicPr>
        <p:blipFill>
          <a:blip r:embed="rId2"/>
          <a:stretch>
            <a:fillRect/>
          </a:stretch>
        </p:blipFill>
        <p:spPr>
          <a:xfrm>
            <a:off x="3685215" y="2953695"/>
            <a:ext cx="328818" cy="328818"/>
          </a:xfrm>
          <a:prstGeom prst="rect">
            <a:avLst/>
          </a:prstGeom>
        </p:spPr>
      </p:pic>
      <p:sp>
        <p:nvSpPr>
          <p:cNvPr id="17" name="Text 13"/>
          <p:cNvSpPr/>
          <p:nvPr/>
        </p:nvSpPr>
        <p:spPr>
          <a:xfrm>
            <a:off x="2916936" y="3657600"/>
            <a:ext cx="1865376" cy="365760"/>
          </a:xfrm>
          <a:prstGeom prst="rect">
            <a:avLst/>
          </a:prstGeom>
          <a:noFill/>
          <a:ln/>
        </p:spPr>
        <p:txBody>
          <a:bodyPr wrap="square" lIns="0" tIns="0" rIns="0" bIns="0" rtlCol="0" anchor="ctr"/>
          <a:lstStyle/>
          <a:p>
            <a:pPr algn="ctr" indent="0" marL="0">
              <a:buNone/>
            </a:pPr>
            <a:r>
              <a:rPr lang="en-US" sz="1450" b="1" dirty="0">
                <a:solidFill>
                  <a:srgbClr val="1B2A2E"/>
                </a:solidFill>
                <a:latin typeface="Calibri" pitchFamily="34" charset="0"/>
                <a:ea typeface="Calibri" pitchFamily="34" charset="-122"/>
                <a:cs typeface="Calibri" pitchFamily="34" charset="-120"/>
              </a:rPr>
              <a:t>Select &amp; Add</a:t>
            </a:r>
            <a:endParaRPr lang="en-US" sz="1450" dirty="0"/>
          </a:p>
        </p:txBody>
      </p:sp>
      <p:sp>
        <p:nvSpPr>
          <p:cNvPr id="18" name="Text 14"/>
          <p:cNvSpPr/>
          <p:nvPr/>
        </p:nvSpPr>
        <p:spPr>
          <a:xfrm>
            <a:off x="2944368" y="4050792"/>
            <a:ext cx="1810512" cy="1143000"/>
          </a:xfrm>
          <a:prstGeom prst="rect">
            <a:avLst/>
          </a:prstGeom>
          <a:noFill/>
          <a:ln/>
        </p:spPr>
        <p:txBody>
          <a:bodyPr wrap="square" lIns="0" tIns="0" rIns="0" bIns="0" rtlCol="0" anchor="ctr"/>
          <a:lstStyle/>
          <a:p>
            <a:pPr algn="ctr" indent="0" marL="0">
              <a:lnSpc>
                <a:spcPct val="115000"/>
              </a:lnSpc>
              <a:buNone/>
            </a:pPr>
            <a:r>
              <a:rPr lang="en-US" sz="1100" dirty="0">
                <a:solidFill>
                  <a:srgbClr val="5C7378"/>
                </a:solidFill>
                <a:latin typeface="Calibri" pitchFamily="34" charset="0"/>
                <a:ea typeface="Calibri" pitchFamily="34" charset="-122"/>
                <a:cs typeface="Calibri" pitchFamily="34" charset="-120"/>
              </a:rPr>
              <a:t>Item is added to the cart; options like size or quantity are chosen.</a:t>
            </a:r>
            <a:endParaRPr lang="en-US" sz="1100" dirty="0"/>
          </a:p>
        </p:txBody>
      </p:sp>
      <p:sp>
        <p:nvSpPr>
          <p:cNvPr id="19" name="Text 15"/>
          <p:cNvSpPr/>
          <p:nvPr/>
        </p:nvSpPr>
        <p:spPr>
          <a:xfrm>
            <a:off x="4864608" y="3429000"/>
            <a:ext cx="228600" cy="457200"/>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5065776" y="1965960"/>
            <a:ext cx="2084832" cy="3383280"/>
          </a:xfrm>
          <a:prstGeom prst="roundRect">
            <a:avLst>
              <a:gd name="adj" fmla="val 4386"/>
            </a:avLst>
          </a:prstGeom>
          <a:solidFill>
            <a:srgbClr val="F2F7F6"/>
          </a:solidFill>
          <a:ln w="12700">
            <a:solidFill>
              <a:srgbClr val="DCE7E6"/>
            </a:solidFill>
            <a:prstDash val="solid"/>
          </a:ln>
        </p:spPr>
      </p:sp>
      <p:sp>
        <p:nvSpPr>
          <p:cNvPr id="21" name="Shape 17"/>
          <p:cNvSpPr/>
          <p:nvPr/>
        </p:nvSpPr>
        <p:spPr>
          <a:xfrm>
            <a:off x="5907024" y="2221992"/>
            <a:ext cx="402336" cy="402336"/>
          </a:xfrm>
          <a:prstGeom prst="ellipse">
            <a:avLst/>
          </a:prstGeom>
          <a:solidFill>
            <a:srgbClr val="028090"/>
          </a:solidFill>
          <a:ln/>
        </p:spPr>
      </p:sp>
      <p:sp>
        <p:nvSpPr>
          <p:cNvPr id="22" name="Text 18"/>
          <p:cNvSpPr/>
          <p:nvPr/>
        </p:nvSpPr>
        <p:spPr>
          <a:xfrm>
            <a:off x="5907024" y="22219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3" name="Shape 19"/>
          <p:cNvSpPr/>
          <p:nvPr/>
        </p:nvSpPr>
        <p:spPr>
          <a:xfrm>
            <a:off x="5824728" y="2834640"/>
            <a:ext cx="566928" cy="566928"/>
          </a:xfrm>
          <a:prstGeom prst="ellipse">
            <a:avLst/>
          </a:prstGeom>
          <a:solidFill>
            <a:srgbClr val="00A896"/>
          </a:solidFill>
          <a:ln/>
        </p:spPr>
      </p:sp>
      <p:pic>
        <p:nvPicPr>
          <p:cNvPr id="24" name="Image 2" descr="/home/claude/onlineshopping/icons/card_FFFFFF.png">    </p:cNvPr>
          <p:cNvPicPr>
            <a:picLocks noChangeAspect="1"/>
          </p:cNvPicPr>
          <p:nvPr/>
        </p:nvPicPr>
        <p:blipFill>
          <a:blip r:embed="rId3"/>
          <a:stretch>
            <a:fillRect/>
          </a:stretch>
        </p:blipFill>
        <p:spPr>
          <a:xfrm>
            <a:off x="5943783" y="2953695"/>
            <a:ext cx="328818" cy="328818"/>
          </a:xfrm>
          <a:prstGeom prst="rect">
            <a:avLst/>
          </a:prstGeom>
        </p:spPr>
      </p:pic>
      <p:sp>
        <p:nvSpPr>
          <p:cNvPr id="25" name="Text 20"/>
          <p:cNvSpPr/>
          <p:nvPr/>
        </p:nvSpPr>
        <p:spPr>
          <a:xfrm>
            <a:off x="5175504" y="3657600"/>
            <a:ext cx="1865376" cy="365760"/>
          </a:xfrm>
          <a:prstGeom prst="rect">
            <a:avLst/>
          </a:prstGeom>
          <a:noFill/>
          <a:ln/>
        </p:spPr>
        <p:txBody>
          <a:bodyPr wrap="square" lIns="0" tIns="0" rIns="0" bIns="0" rtlCol="0" anchor="ctr"/>
          <a:lstStyle/>
          <a:p>
            <a:pPr algn="ctr" indent="0" marL="0">
              <a:buNone/>
            </a:pPr>
            <a:r>
              <a:rPr lang="en-US" sz="1450" b="1" dirty="0">
                <a:solidFill>
                  <a:srgbClr val="1B2A2E"/>
                </a:solidFill>
                <a:latin typeface="Calibri" pitchFamily="34" charset="0"/>
                <a:ea typeface="Calibri" pitchFamily="34" charset="-122"/>
                <a:cs typeface="Calibri" pitchFamily="34" charset="-120"/>
              </a:rPr>
              <a:t>Checkout &amp; Pay</a:t>
            </a:r>
            <a:endParaRPr lang="en-US" sz="1450" dirty="0"/>
          </a:p>
        </p:txBody>
      </p:sp>
      <p:sp>
        <p:nvSpPr>
          <p:cNvPr id="26" name="Text 21"/>
          <p:cNvSpPr/>
          <p:nvPr/>
        </p:nvSpPr>
        <p:spPr>
          <a:xfrm>
            <a:off x="5202936" y="4050792"/>
            <a:ext cx="1810512" cy="1143000"/>
          </a:xfrm>
          <a:prstGeom prst="rect">
            <a:avLst/>
          </a:prstGeom>
          <a:noFill/>
          <a:ln/>
        </p:spPr>
        <p:txBody>
          <a:bodyPr wrap="square" lIns="0" tIns="0" rIns="0" bIns="0" rtlCol="0" anchor="ctr"/>
          <a:lstStyle/>
          <a:p>
            <a:pPr algn="ctr" indent="0" marL="0">
              <a:lnSpc>
                <a:spcPct val="115000"/>
              </a:lnSpc>
              <a:buNone/>
            </a:pPr>
            <a:r>
              <a:rPr lang="en-US" sz="1100" dirty="0">
                <a:solidFill>
                  <a:srgbClr val="5C7378"/>
                </a:solidFill>
                <a:latin typeface="Calibri" pitchFamily="34" charset="0"/>
                <a:ea typeface="Calibri" pitchFamily="34" charset="-122"/>
                <a:cs typeface="Calibri" pitchFamily="34" charset="-120"/>
              </a:rPr>
              <a:t>Shipping details are entered and payment is made online.</a:t>
            </a:r>
            <a:endParaRPr lang="en-US" sz="1100" dirty="0"/>
          </a:p>
        </p:txBody>
      </p:sp>
      <p:sp>
        <p:nvSpPr>
          <p:cNvPr id="27" name="Text 22"/>
          <p:cNvSpPr/>
          <p:nvPr/>
        </p:nvSpPr>
        <p:spPr>
          <a:xfrm>
            <a:off x="7123176" y="3429000"/>
            <a:ext cx="228600" cy="457200"/>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8" name="Shape 23"/>
          <p:cNvSpPr/>
          <p:nvPr/>
        </p:nvSpPr>
        <p:spPr>
          <a:xfrm>
            <a:off x="7324344" y="1965960"/>
            <a:ext cx="2084832" cy="3383280"/>
          </a:xfrm>
          <a:prstGeom prst="roundRect">
            <a:avLst>
              <a:gd name="adj" fmla="val 4386"/>
            </a:avLst>
          </a:prstGeom>
          <a:solidFill>
            <a:srgbClr val="FFFFFF"/>
          </a:solidFill>
          <a:ln w="12700">
            <a:solidFill>
              <a:srgbClr val="DCE7E6"/>
            </a:solidFill>
            <a:prstDash val="solid"/>
          </a:ln>
        </p:spPr>
      </p:sp>
      <p:sp>
        <p:nvSpPr>
          <p:cNvPr id="29" name="Shape 24"/>
          <p:cNvSpPr/>
          <p:nvPr/>
        </p:nvSpPr>
        <p:spPr>
          <a:xfrm>
            <a:off x="8165592" y="2221992"/>
            <a:ext cx="402336" cy="402336"/>
          </a:xfrm>
          <a:prstGeom prst="ellipse">
            <a:avLst/>
          </a:prstGeom>
          <a:solidFill>
            <a:srgbClr val="028090"/>
          </a:solidFill>
          <a:ln/>
        </p:spPr>
      </p:sp>
      <p:sp>
        <p:nvSpPr>
          <p:cNvPr id="30" name="Text 25"/>
          <p:cNvSpPr/>
          <p:nvPr/>
        </p:nvSpPr>
        <p:spPr>
          <a:xfrm>
            <a:off x="8165592" y="22219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1" name="Shape 26"/>
          <p:cNvSpPr/>
          <p:nvPr/>
        </p:nvSpPr>
        <p:spPr>
          <a:xfrm>
            <a:off x="8083296" y="2834640"/>
            <a:ext cx="566928" cy="566928"/>
          </a:xfrm>
          <a:prstGeom prst="ellipse">
            <a:avLst/>
          </a:prstGeom>
          <a:solidFill>
            <a:srgbClr val="00A896"/>
          </a:solidFill>
          <a:ln/>
        </p:spPr>
      </p:sp>
      <p:pic>
        <p:nvPicPr>
          <p:cNvPr id="32" name="Image 3" descr="/home/claude/onlineshopping/icons/check_FFFFFF.png">    </p:cNvPr>
          <p:cNvPicPr>
            <a:picLocks noChangeAspect="1"/>
          </p:cNvPicPr>
          <p:nvPr/>
        </p:nvPicPr>
        <p:blipFill>
          <a:blip r:embed="rId4"/>
          <a:stretch>
            <a:fillRect/>
          </a:stretch>
        </p:blipFill>
        <p:spPr>
          <a:xfrm>
            <a:off x="8202351" y="2953695"/>
            <a:ext cx="328818" cy="328818"/>
          </a:xfrm>
          <a:prstGeom prst="rect">
            <a:avLst/>
          </a:prstGeom>
        </p:spPr>
      </p:pic>
      <p:sp>
        <p:nvSpPr>
          <p:cNvPr id="33" name="Text 27"/>
          <p:cNvSpPr/>
          <p:nvPr/>
        </p:nvSpPr>
        <p:spPr>
          <a:xfrm>
            <a:off x="7434072" y="3657600"/>
            <a:ext cx="1865376" cy="365760"/>
          </a:xfrm>
          <a:prstGeom prst="rect">
            <a:avLst/>
          </a:prstGeom>
          <a:noFill/>
          <a:ln/>
        </p:spPr>
        <p:txBody>
          <a:bodyPr wrap="square" lIns="0" tIns="0" rIns="0" bIns="0" rtlCol="0" anchor="ctr"/>
          <a:lstStyle/>
          <a:p>
            <a:pPr algn="ctr" indent="0" marL="0">
              <a:buNone/>
            </a:pPr>
            <a:r>
              <a:rPr lang="en-US" sz="1450" b="1" dirty="0">
                <a:solidFill>
                  <a:srgbClr val="1B2A2E"/>
                </a:solidFill>
                <a:latin typeface="Calibri" pitchFamily="34" charset="0"/>
                <a:ea typeface="Calibri" pitchFamily="34" charset="-122"/>
                <a:cs typeface="Calibri" pitchFamily="34" charset="-120"/>
              </a:rPr>
              <a:t>Confirm Order</a:t>
            </a:r>
            <a:endParaRPr lang="en-US" sz="1450" dirty="0"/>
          </a:p>
        </p:txBody>
      </p:sp>
      <p:sp>
        <p:nvSpPr>
          <p:cNvPr id="34" name="Text 28"/>
          <p:cNvSpPr/>
          <p:nvPr/>
        </p:nvSpPr>
        <p:spPr>
          <a:xfrm>
            <a:off x="7461504" y="4050792"/>
            <a:ext cx="1810512" cy="1143000"/>
          </a:xfrm>
          <a:prstGeom prst="rect">
            <a:avLst/>
          </a:prstGeom>
          <a:noFill/>
          <a:ln/>
        </p:spPr>
        <p:txBody>
          <a:bodyPr wrap="square" lIns="0" tIns="0" rIns="0" bIns="0" rtlCol="0" anchor="ctr"/>
          <a:lstStyle/>
          <a:p>
            <a:pPr algn="ctr" indent="0" marL="0">
              <a:lnSpc>
                <a:spcPct val="115000"/>
              </a:lnSpc>
              <a:buNone/>
            </a:pPr>
            <a:r>
              <a:rPr lang="en-US" sz="1100" dirty="0">
                <a:solidFill>
                  <a:srgbClr val="5C7378"/>
                </a:solidFill>
                <a:latin typeface="Calibri" pitchFamily="34" charset="0"/>
                <a:ea typeface="Calibri" pitchFamily="34" charset="-122"/>
                <a:cs typeface="Calibri" pitchFamily="34" charset="-120"/>
              </a:rPr>
              <a:t>Order confirmation and receipt are sent by email or app.</a:t>
            </a:r>
            <a:endParaRPr lang="en-US" sz="1100" dirty="0"/>
          </a:p>
        </p:txBody>
      </p:sp>
      <p:sp>
        <p:nvSpPr>
          <p:cNvPr id="35" name="Text 29"/>
          <p:cNvSpPr/>
          <p:nvPr/>
        </p:nvSpPr>
        <p:spPr>
          <a:xfrm>
            <a:off x="9381744" y="3429000"/>
            <a:ext cx="228600" cy="457200"/>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36" name="Shape 30"/>
          <p:cNvSpPr/>
          <p:nvPr/>
        </p:nvSpPr>
        <p:spPr>
          <a:xfrm>
            <a:off x="9582912" y="1965960"/>
            <a:ext cx="2084832" cy="3383280"/>
          </a:xfrm>
          <a:prstGeom prst="roundRect">
            <a:avLst>
              <a:gd name="adj" fmla="val 4386"/>
            </a:avLst>
          </a:prstGeom>
          <a:solidFill>
            <a:srgbClr val="F2F7F6"/>
          </a:solidFill>
          <a:ln w="12700">
            <a:solidFill>
              <a:srgbClr val="DCE7E6"/>
            </a:solidFill>
            <a:prstDash val="solid"/>
          </a:ln>
        </p:spPr>
      </p:sp>
      <p:sp>
        <p:nvSpPr>
          <p:cNvPr id="37" name="Shape 31"/>
          <p:cNvSpPr/>
          <p:nvPr/>
        </p:nvSpPr>
        <p:spPr>
          <a:xfrm>
            <a:off x="10424160" y="2221992"/>
            <a:ext cx="402336" cy="402336"/>
          </a:xfrm>
          <a:prstGeom prst="ellipse">
            <a:avLst/>
          </a:prstGeom>
          <a:solidFill>
            <a:srgbClr val="028090"/>
          </a:solidFill>
          <a:ln/>
        </p:spPr>
      </p:sp>
      <p:sp>
        <p:nvSpPr>
          <p:cNvPr id="38" name="Text 32"/>
          <p:cNvSpPr/>
          <p:nvPr/>
        </p:nvSpPr>
        <p:spPr>
          <a:xfrm>
            <a:off x="10424160" y="22219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9" name="Shape 33"/>
          <p:cNvSpPr/>
          <p:nvPr/>
        </p:nvSpPr>
        <p:spPr>
          <a:xfrm>
            <a:off x="10341864" y="2834640"/>
            <a:ext cx="566928" cy="566928"/>
          </a:xfrm>
          <a:prstGeom prst="ellipse">
            <a:avLst/>
          </a:prstGeom>
          <a:solidFill>
            <a:srgbClr val="00A896"/>
          </a:solidFill>
          <a:ln/>
        </p:spPr>
      </p:sp>
      <p:pic>
        <p:nvPicPr>
          <p:cNvPr id="40" name="Image 4" descr="/home/claude/onlineshopping/icons/truck_FFFFFF.png">    </p:cNvPr>
          <p:cNvPicPr>
            <a:picLocks noChangeAspect="1"/>
          </p:cNvPicPr>
          <p:nvPr/>
        </p:nvPicPr>
        <p:blipFill>
          <a:blip r:embed="rId5"/>
          <a:stretch>
            <a:fillRect/>
          </a:stretch>
        </p:blipFill>
        <p:spPr>
          <a:xfrm>
            <a:off x="10460919" y="2953695"/>
            <a:ext cx="328818" cy="328818"/>
          </a:xfrm>
          <a:prstGeom prst="rect">
            <a:avLst/>
          </a:prstGeom>
        </p:spPr>
      </p:pic>
      <p:sp>
        <p:nvSpPr>
          <p:cNvPr id="41" name="Text 34"/>
          <p:cNvSpPr/>
          <p:nvPr/>
        </p:nvSpPr>
        <p:spPr>
          <a:xfrm>
            <a:off x="9692640" y="3657600"/>
            <a:ext cx="1865376" cy="365760"/>
          </a:xfrm>
          <a:prstGeom prst="rect">
            <a:avLst/>
          </a:prstGeom>
          <a:noFill/>
          <a:ln/>
        </p:spPr>
        <p:txBody>
          <a:bodyPr wrap="square" lIns="0" tIns="0" rIns="0" bIns="0" rtlCol="0" anchor="ctr"/>
          <a:lstStyle/>
          <a:p>
            <a:pPr algn="ctr" indent="0" marL="0">
              <a:buNone/>
            </a:pPr>
            <a:r>
              <a:rPr lang="en-US" sz="1450" b="1" dirty="0">
                <a:solidFill>
                  <a:srgbClr val="1B2A2E"/>
                </a:solidFill>
                <a:latin typeface="Calibri" pitchFamily="34" charset="0"/>
                <a:ea typeface="Calibri" pitchFamily="34" charset="-122"/>
                <a:cs typeface="Calibri" pitchFamily="34" charset="-120"/>
              </a:rPr>
              <a:t>Ship &amp; Deliver</a:t>
            </a:r>
            <a:endParaRPr lang="en-US" sz="1450" dirty="0"/>
          </a:p>
        </p:txBody>
      </p:sp>
      <p:sp>
        <p:nvSpPr>
          <p:cNvPr id="42" name="Text 35"/>
          <p:cNvSpPr/>
          <p:nvPr/>
        </p:nvSpPr>
        <p:spPr>
          <a:xfrm>
            <a:off x="9720072" y="4050792"/>
            <a:ext cx="1810512" cy="1143000"/>
          </a:xfrm>
          <a:prstGeom prst="rect">
            <a:avLst/>
          </a:prstGeom>
          <a:noFill/>
          <a:ln/>
        </p:spPr>
        <p:txBody>
          <a:bodyPr wrap="square" lIns="0" tIns="0" rIns="0" bIns="0" rtlCol="0" anchor="ctr"/>
          <a:lstStyle/>
          <a:p>
            <a:pPr algn="ctr" indent="0" marL="0">
              <a:lnSpc>
                <a:spcPct val="115000"/>
              </a:lnSpc>
              <a:buNone/>
            </a:pPr>
            <a:r>
              <a:rPr lang="en-US" sz="1100" dirty="0">
                <a:solidFill>
                  <a:srgbClr val="5C7378"/>
                </a:solidFill>
                <a:latin typeface="Calibri" pitchFamily="34" charset="0"/>
                <a:ea typeface="Calibri" pitchFamily="34" charset="-122"/>
                <a:cs typeface="Calibri" pitchFamily="34" charset="-120"/>
              </a:rPr>
              <a:t>Warehouse packs the item; courier delivers it to the buyer.</a:t>
            </a:r>
            <a:endParaRPr lang="en-US" sz="1100" dirty="0"/>
          </a:p>
        </p:txBody>
      </p:sp>
      <p:sp>
        <p:nvSpPr>
          <p:cNvPr id="43" name="Text 36"/>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44" name="Text 37"/>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53"/>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06"/>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159"/>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12"/>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265"/>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318"/>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371"/>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424"/>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477"/>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53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583"/>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636"/>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689"/>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742"/>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795"/>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848"/>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901"/>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954"/>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007"/>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06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113"/>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8" presetID="10" presetClass="entr" presetSubtype="0" fill="hold" grpId="0">
                      <p:stCondLst>
                        <p:cond delay="1166"/>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81" presetID="10" presetClass="entr" presetSubtype="0" fill="hold" grpId="0">
                      <p:stCondLst>
                        <p:cond delay="1219"/>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4" presetID="10" presetClass="entr" presetSubtype="0" fill="hold" grpId="0">
                      <p:stCondLst>
                        <p:cond delay="1272"/>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7" presetID="10" presetClass="entr" presetSubtype="0" fill="hold" grpId="0">
                      <p:stCondLst>
                        <p:cond delay="1325"/>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90" presetID="10" presetClass="entr" presetSubtype="0" fill="hold" grpId="0">
                      <p:stCondLst>
                        <p:cond delay="1378"/>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3" presetID="10" presetClass="entr" presetSubtype="0" fill="hold" grpId="0">
                      <p:stCondLst>
                        <p:cond delay="1431"/>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6" presetID="10" presetClass="entr" presetSubtype="0" fill="hold" grpId="0">
                      <p:stCondLst>
                        <p:cond delay="1484"/>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par>
                    <p:cTn id="99" presetID="10" presetClass="entr" presetSubtype="0" fill="hold" grpId="0">
                      <p:stCondLst>
                        <p:cond delay="1537"/>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50"/>
                            <p:tgtEl>
                              <p:spTgt spid="31"/>
                            </p:tgtEl>
                          </p:cBhvr>
                        </p:animEffect>
                      </p:childTnLst>
                    </p:cTn>
                  </p:par>
                  <p:par>
                    <p:cTn id="102" presetID="10" presetClass="entr" presetSubtype="0" fill="hold" grpId="0">
                      <p:stCondLst>
                        <p:cond delay="159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par>
                    <p:cTn id="105" presetID="10" presetClass="entr" presetSubtype="0" fill="hold" grpId="0">
                      <p:stCondLst>
                        <p:cond delay="1643"/>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350"/>
                            <p:tgtEl>
                              <p:spTgt spid="33"/>
                            </p:tgtEl>
                          </p:cBhvr>
                        </p:animEffect>
                      </p:childTnLst>
                    </p:cTn>
                  </p:par>
                  <p:par>
                    <p:cTn id="108" presetID="10" presetClass="entr" presetSubtype="0" fill="hold" grpId="0">
                      <p:stCondLst>
                        <p:cond delay="1696"/>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350"/>
                            <p:tgtEl>
                              <p:spTgt spid="34"/>
                            </p:tgtEl>
                          </p:cBhvr>
                        </p:animEffect>
                      </p:childTnLst>
                    </p:cTn>
                  </p:par>
                  <p:par>
                    <p:cTn id="111" presetID="10" presetClass="entr" presetSubtype="0" fill="hold" grpId="0">
                      <p:stCondLst>
                        <p:cond delay="1749"/>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350"/>
                            <p:tgtEl>
                              <p:spTgt spid="35"/>
                            </p:tgtEl>
                          </p:cBhvr>
                        </p:animEffect>
                      </p:childTnLst>
                    </p:cTn>
                  </p:par>
                  <p:par>
                    <p:cTn id="114" presetID="10" presetClass="entr" presetSubtype="0" fill="hold" grpId="0">
                      <p:stCondLst>
                        <p:cond delay="1802"/>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350"/>
                            <p:tgtEl>
                              <p:spTgt spid="36"/>
                            </p:tgtEl>
                          </p:cBhvr>
                        </p:animEffect>
                      </p:childTnLst>
                    </p:cTn>
                  </p:par>
                  <p:par>
                    <p:cTn id="117" presetID="10" presetClass="entr" presetSubtype="0" fill="hold" grpId="0">
                      <p:stCondLst>
                        <p:cond delay="1855"/>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350"/>
                            <p:tgtEl>
                              <p:spTgt spid="37"/>
                            </p:tgtEl>
                          </p:cBhvr>
                        </p:animEffect>
                      </p:childTnLst>
                    </p:cTn>
                  </p:par>
                  <p:par>
                    <p:cTn id="120" presetID="10" presetClass="entr" presetSubtype="0" fill="hold" grpId="0">
                      <p:stCondLst>
                        <p:cond delay="1908"/>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350"/>
                            <p:tgtEl>
                              <p:spTgt spid="38"/>
                            </p:tgtEl>
                          </p:cBhvr>
                        </p:animEffect>
                      </p:childTnLst>
                    </p:cTn>
                  </p:par>
                  <p:par>
                    <p:cTn id="123" presetID="10" presetClass="entr" presetSubtype="0" fill="hold" grpId="0">
                      <p:stCondLst>
                        <p:cond delay="1961"/>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350"/>
                            <p:tgtEl>
                              <p:spTgt spid="39"/>
                            </p:tgtEl>
                          </p:cBhvr>
                        </p:animEffect>
                      </p:childTnLst>
                    </p:cTn>
                  </p:par>
                  <p:par>
                    <p:cTn id="126" presetID="10" presetClass="entr" presetSubtype="0" fill="hold" grpId="0">
                      <p:stCondLst>
                        <p:cond delay="2014"/>
                      </p:stCondLst>
                      <p:childTnLst>
                        <p:set>
                          <p:cBhvr>
                            <p:cTn id="124" dur="1" fill="hold">
                              <p:stCondLst>
                                <p:cond delay="0"/>
                              </p:stCondLst>
                            </p:cTn>
                            <p:tgtEl>
                              <p:spTgt spid="40"/>
                            </p:tgtEl>
                            <p:attrNameLst>
                              <p:attrName>style.visibility</p:attrName>
                            </p:attrNameLst>
                          </p:cBhvr>
                          <p:to>
                            <p:strVal val="visible"/>
                          </p:to>
                        </p:set>
                        <p:animEffect transition="in" filter="fade">
                          <p:cBhvr>
                            <p:cTn id="125" dur="350"/>
                            <p:tgtEl>
                              <p:spTgt spid="40"/>
                            </p:tgtEl>
                          </p:cBhvr>
                        </p:animEffect>
                      </p:childTnLst>
                    </p:cTn>
                  </p:par>
                  <p:par>
                    <p:cTn id="129" presetID="10" presetClass="entr" presetSubtype="0" fill="hold" grpId="0">
                      <p:stCondLst>
                        <p:cond delay="2067"/>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350"/>
                            <p:tgtEl>
                              <p:spTgt spid="41"/>
                            </p:tgtEl>
                          </p:cBhvr>
                        </p:animEffect>
                      </p:childTnLst>
                    </p:cTn>
                  </p:par>
                  <p:par>
                    <p:cTn id="132" presetID="10" presetClass="entr" presetSubtype="0" fill="hold" grpId="0">
                      <p:stCondLst>
                        <p:cond delay="2120"/>
                      </p:stCondLst>
                      <p:childTnLst>
                        <p:set>
                          <p:cBhvr>
                            <p:cTn id="130" dur="1" fill="hold">
                              <p:stCondLst>
                                <p:cond delay="0"/>
                              </p:stCondLst>
                            </p:cTn>
                            <p:tgtEl>
                              <p:spTgt spid="42"/>
                            </p:tgtEl>
                            <p:attrNameLst>
                              <p:attrName>style.visibility</p:attrName>
                            </p:attrNameLst>
                          </p:cBhvr>
                          <p:to>
                            <p:strVal val="visible"/>
                          </p:to>
                        </p:set>
                        <p:animEffect transition="in" filter="fade">
                          <p:cBhvr>
                            <p:cTn id="131" dur="350"/>
                            <p:tgtEl>
                              <p:spTgt spid="42"/>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Popular Online Shopping Platforms</a:t>
            </a:r>
            <a:endParaRPr lang="en-US" sz="3200" dirty="0"/>
          </a:p>
        </p:txBody>
      </p:sp>
      <p:sp>
        <p:nvSpPr>
          <p:cNvPr id="3" name="Text 1"/>
          <p:cNvSpPr/>
          <p:nvPr/>
        </p:nvSpPr>
        <p:spPr>
          <a:xfrm>
            <a:off x="548640" y="1005840"/>
            <a:ext cx="10058400" cy="365760"/>
          </a:xfrm>
          <a:prstGeom prst="rect">
            <a:avLst/>
          </a:prstGeom>
          <a:noFill/>
          <a:ln/>
        </p:spPr>
        <p:txBody>
          <a:bodyPr wrap="square" lIns="0" tIns="0" rIns="0" bIns="0" rtlCol="0" anchor="ctr"/>
          <a:lstStyle/>
          <a:p>
            <a:pPr indent="0" marL="0">
              <a:buNone/>
            </a:pPr>
            <a:r>
              <a:rPr lang="en-US" sz="1350" dirty="0">
                <a:solidFill>
                  <a:srgbClr val="5C7378"/>
                </a:solidFill>
                <a:latin typeface="Calibri" pitchFamily="34" charset="0"/>
                <a:ea typeface="Calibri" pitchFamily="34" charset="-122"/>
                <a:cs typeface="Calibri" pitchFamily="34" charset="-120"/>
              </a:rPr>
              <a:t>Different platforms serve different needs — marketplaces, retailers, and social commerce</a:t>
            </a:r>
            <a:endParaRPr lang="en-US" sz="1350" dirty="0"/>
          </a:p>
        </p:txBody>
      </p:sp>
      <p:sp>
        <p:nvSpPr>
          <p:cNvPr id="4" name="Shape 2"/>
          <p:cNvSpPr/>
          <p:nvPr/>
        </p:nvSpPr>
        <p:spPr>
          <a:xfrm>
            <a:off x="548640" y="1600200"/>
            <a:ext cx="5212080" cy="2148840"/>
          </a:xfrm>
          <a:prstGeom prst="roundRect">
            <a:avLst>
              <a:gd name="adj" fmla="val 4255"/>
            </a:avLst>
          </a:prstGeom>
          <a:solidFill>
            <a:srgbClr val="F2F7F6"/>
          </a:solidFill>
          <a:ln/>
        </p:spPr>
      </p:sp>
      <p:sp>
        <p:nvSpPr>
          <p:cNvPr id="5" name="Shape 3"/>
          <p:cNvSpPr/>
          <p:nvPr/>
        </p:nvSpPr>
        <p:spPr>
          <a:xfrm>
            <a:off x="822960" y="1874520"/>
            <a:ext cx="548640" cy="548640"/>
          </a:xfrm>
          <a:prstGeom prst="ellipse">
            <a:avLst/>
          </a:prstGeom>
          <a:solidFill>
            <a:srgbClr val="028090"/>
          </a:solidFill>
          <a:ln/>
        </p:spPr>
      </p:sp>
      <p:pic>
        <p:nvPicPr>
          <p:cNvPr id="6" name="Image 0" descr="/home/claude/onlineshopping/icons/globe_FFFFFF.png">    </p:cNvPr>
          <p:cNvPicPr>
            <a:picLocks noChangeAspect="1"/>
          </p:cNvPicPr>
          <p:nvPr/>
        </p:nvPicPr>
        <p:blipFill>
          <a:blip r:embed="rId1"/>
          <a:stretch>
            <a:fillRect/>
          </a:stretch>
        </p:blipFill>
        <p:spPr>
          <a:xfrm>
            <a:off x="938174" y="1989734"/>
            <a:ext cx="318211" cy="318211"/>
          </a:xfrm>
          <a:prstGeom prst="rect">
            <a:avLst/>
          </a:prstGeom>
        </p:spPr>
      </p:pic>
      <p:sp>
        <p:nvSpPr>
          <p:cNvPr id="7" name="Text 4"/>
          <p:cNvSpPr/>
          <p:nvPr/>
        </p:nvSpPr>
        <p:spPr>
          <a:xfrm>
            <a:off x="1554480" y="1856232"/>
            <a:ext cx="3931920" cy="365760"/>
          </a:xfrm>
          <a:prstGeom prst="rect">
            <a:avLst/>
          </a:prstGeom>
          <a:noFill/>
          <a:ln/>
        </p:spPr>
        <p:txBody>
          <a:bodyPr wrap="square" lIns="0" tIns="0" rIns="0" bIns="0" rtlCol="0" anchor="ctr"/>
          <a:lstStyle/>
          <a:p>
            <a:pPr indent="0" marL="0">
              <a:buNone/>
            </a:pPr>
            <a:r>
              <a:rPr lang="en-US" sz="1550" b="1" dirty="0">
                <a:solidFill>
                  <a:srgbClr val="1B2A2E"/>
                </a:solidFill>
                <a:latin typeface="Calibri" pitchFamily="34" charset="0"/>
                <a:ea typeface="Calibri" pitchFamily="34" charset="-122"/>
                <a:cs typeface="Calibri" pitchFamily="34" charset="-120"/>
              </a:rPr>
              <a:t>Global Marketplaces</a:t>
            </a:r>
            <a:endParaRPr lang="en-US" sz="1550" dirty="0"/>
          </a:p>
        </p:txBody>
      </p:sp>
      <p:sp>
        <p:nvSpPr>
          <p:cNvPr id="8" name="Text 5"/>
          <p:cNvSpPr/>
          <p:nvPr/>
        </p:nvSpPr>
        <p:spPr>
          <a:xfrm>
            <a:off x="1554480" y="2240280"/>
            <a:ext cx="3931920" cy="822960"/>
          </a:xfrm>
          <a:prstGeom prst="rect">
            <a:avLst/>
          </a:prstGeom>
          <a:noFill/>
          <a:ln/>
        </p:spPr>
        <p:txBody>
          <a:bodyPr wrap="square" lIns="0" tIns="0" rIns="0" bIns="0" rtlCol="0" anchor="ctr"/>
          <a:lstStyle/>
          <a:p>
            <a:pPr indent="0" marL="0">
              <a:lnSpc>
                <a:spcPct val="120000"/>
              </a:lnSpc>
              <a:buNone/>
            </a:pPr>
            <a:r>
              <a:rPr lang="en-US" sz="1200" dirty="0">
                <a:solidFill>
                  <a:srgbClr val="5C7378"/>
                </a:solidFill>
                <a:latin typeface="Calibri" pitchFamily="34" charset="0"/>
                <a:ea typeface="Calibri" pitchFamily="34" charset="-122"/>
                <a:cs typeface="Calibri" pitchFamily="34" charset="-120"/>
              </a:rPr>
              <a:t>Amazon, eBay, Alibaba — huge product range, many sellers in one place.</a:t>
            </a:r>
            <a:endParaRPr lang="en-US" sz="1200" dirty="0"/>
          </a:p>
        </p:txBody>
      </p:sp>
      <p:sp>
        <p:nvSpPr>
          <p:cNvPr id="9" name="Shape 6"/>
          <p:cNvSpPr/>
          <p:nvPr/>
        </p:nvSpPr>
        <p:spPr>
          <a:xfrm>
            <a:off x="6080760" y="1600200"/>
            <a:ext cx="5212080" cy="2148840"/>
          </a:xfrm>
          <a:prstGeom prst="roundRect">
            <a:avLst>
              <a:gd name="adj" fmla="val 4255"/>
            </a:avLst>
          </a:prstGeom>
          <a:solidFill>
            <a:srgbClr val="F2F7F6"/>
          </a:solidFill>
          <a:ln/>
        </p:spPr>
      </p:sp>
      <p:sp>
        <p:nvSpPr>
          <p:cNvPr id="10" name="Shape 7"/>
          <p:cNvSpPr/>
          <p:nvPr/>
        </p:nvSpPr>
        <p:spPr>
          <a:xfrm>
            <a:off x="6355080" y="1874520"/>
            <a:ext cx="548640" cy="548640"/>
          </a:xfrm>
          <a:prstGeom prst="ellipse">
            <a:avLst/>
          </a:prstGeom>
          <a:solidFill>
            <a:srgbClr val="028090"/>
          </a:solidFill>
          <a:ln/>
        </p:spPr>
      </p:sp>
      <p:pic>
        <p:nvPicPr>
          <p:cNvPr id="11" name="Image 1" descr="/home/claude/onlineshopping/icons/tag_FFFFFF.png">    </p:cNvPr>
          <p:cNvPicPr>
            <a:picLocks noChangeAspect="1"/>
          </p:cNvPicPr>
          <p:nvPr/>
        </p:nvPicPr>
        <p:blipFill>
          <a:blip r:embed="rId2"/>
          <a:stretch>
            <a:fillRect/>
          </a:stretch>
        </p:blipFill>
        <p:spPr>
          <a:xfrm>
            <a:off x="6470294" y="1989734"/>
            <a:ext cx="318211" cy="318211"/>
          </a:xfrm>
          <a:prstGeom prst="rect">
            <a:avLst/>
          </a:prstGeom>
        </p:spPr>
      </p:pic>
      <p:sp>
        <p:nvSpPr>
          <p:cNvPr id="12" name="Text 8"/>
          <p:cNvSpPr/>
          <p:nvPr/>
        </p:nvSpPr>
        <p:spPr>
          <a:xfrm>
            <a:off x="7086600" y="1856232"/>
            <a:ext cx="3931920" cy="365760"/>
          </a:xfrm>
          <a:prstGeom prst="rect">
            <a:avLst/>
          </a:prstGeom>
          <a:noFill/>
          <a:ln/>
        </p:spPr>
        <p:txBody>
          <a:bodyPr wrap="square" lIns="0" tIns="0" rIns="0" bIns="0" rtlCol="0" anchor="ctr"/>
          <a:lstStyle/>
          <a:p>
            <a:pPr indent="0" marL="0">
              <a:buNone/>
            </a:pPr>
            <a:r>
              <a:rPr lang="en-US" sz="1550" b="1" dirty="0">
                <a:solidFill>
                  <a:srgbClr val="1B2A2E"/>
                </a:solidFill>
                <a:latin typeface="Calibri" pitchFamily="34" charset="0"/>
                <a:ea typeface="Calibri" pitchFamily="34" charset="-122"/>
                <a:cs typeface="Calibri" pitchFamily="34" charset="-120"/>
              </a:rPr>
              <a:t>Retail Websites &amp; Apps</a:t>
            </a:r>
            <a:endParaRPr lang="en-US" sz="1550" dirty="0"/>
          </a:p>
        </p:txBody>
      </p:sp>
      <p:sp>
        <p:nvSpPr>
          <p:cNvPr id="13" name="Text 9"/>
          <p:cNvSpPr/>
          <p:nvPr/>
        </p:nvSpPr>
        <p:spPr>
          <a:xfrm>
            <a:off x="7086600" y="2240280"/>
            <a:ext cx="3931920" cy="822960"/>
          </a:xfrm>
          <a:prstGeom prst="rect">
            <a:avLst/>
          </a:prstGeom>
          <a:noFill/>
          <a:ln/>
        </p:spPr>
        <p:txBody>
          <a:bodyPr wrap="square" lIns="0" tIns="0" rIns="0" bIns="0" rtlCol="0" anchor="ctr"/>
          <a:lstStyle/>
          <a:p>
            <a:pPr indent="0" marL="0">
              <a:lnSpc>
                <a:spcPct val="120000"/>
              </a:lnSpc>
              <a:buNone/>
            </a:pPr>
            <a:r>
              <a:rPr lang="en-US" sz="1200" dirty="0">
                <a:solidFill>
                  <a:srgbClr val="5C7378"/>
                </a:solidFill>
                <a:latin typeface="Calibri" pitchFamily="34" charset="0"/>
                <a:ea typeface="Calibri" pitchFamily="34" charset="-122"/>
                <a:cs typeface="Calibri" pitchFamily="34" charset="-120"/>
              </a:rPr>
              <a:t>Walmart, Target, Flipkart — a single brand's own online store.</a:t>
            </a:r>
            <a:endParaRPr lang="en-US" sz="1200" dirty="0"/>
          </a:p>
        </p:txBody>
      </p:sp>
      <p:sp>
        <p:nvSpPr>
          <p:cNvPr id="14" name="Shape 10"/>
          <p:cNvSpPr/>
          <p:nvPr/>
        </p:nvSpPr>
        <p:spPr>
          <a:xfrm>
            <a:off x="548640" y="4023360"/>
            <a:ext cx="5212080" cy="2148840"/>
          </a:xfrm>
          <a:prstGeom prst="roundRect">
            <a:avLst>
              <a:gd name="adj" fmla="val 4255"/>
            </a:avLst>
          </a:prstGeom>
          <a:solidFill>
            <a:srgbClr val="F2F7F6"/>
          </a:solidFill>
          <a:ln/>
        </p:spPr>
      </p:sp>
      <p:sp>
        <p:nvSpPr>
          <p:cNvPr id="15" name="Shape 11"/>
          <p:cNvSpPr/>
          <p:nvPr/>
        </p:nvSpPr>
        <p:spPr>
          <a:xfrm>
            <a:off x="822960" y="4297680"/>
            <a:ext cx="548640" cy="548640"/>
          </a:xfrm>
          <a:prstGeom prst="ellipse">
            <a:avLst/>
          </a:prstGeom>
          <a:solidFill>
            <a:srgbClr val="028090"/>
          </a:solidFill>
          <a:ln/>
        </p:spPr>
      </p:sp>
      <p:pic>
        <p:nvPicPr>
          <p:cNvPr id="16" name="Image 2" descr="/home/claude/onlineshopping/icons/phone_FFFFFF.png">    </p:cNvPr>
          <p:cNvPicPr>
            <a:picLocks noChangeAspect="1"/>
          </p:cNvPicPr>
          <p:nvPr/>
        </p:nvPicPr>
        <p:blipFill>
          <a:blip r:embed="rId3"/>
          <a:stretch>
            <a:fillRect/>
          </a:stretch>
        </p:blipFill>
        <p:spPr>
          <a:xfrm>
            <a:off x="938174" y="4412894"/>
            <a:ext cx="318211" cy="318211"/>
          </a:xfrm>
          <a:prstGeom prst="rect">
            <a:avLst/>
          </a:prstGeom>
        </p:spPr>
      </p:pic>
      <p:sp>
        <p:nvSpPr>
          <p:cNvPr id="17" name="Text 12"/>
          <p:cNvSpPr/>
          <p:nvPr/>
        </p:nvSpPr>
        <p:spPr>
          <a:xfrm>
            <a:off x="1554480" y="4279392"/>
            <a:ext cx="3931920" cy="365760"/>
          </a:xfrm>
          <a:prstGeom prst="rect">
            <a:avLst/>
          </a:prstGeom>
          <a:noFill/>
          <a:ln/>
        </p:spPr>
        <p:txBody>
          <a:bodyPr wrap="square" lIns="0" tIns="0" rIns="0" bIns="0" rtlCol="0" anchor="ctr"/>
          <a:lstStyle/>
          <a:p>
            <a:pPr indent="0" marL="0">
              <a:buNone/>
            </a:pPr>
            <a:r>
              <a:rPr lang="en-US" sz="1550" b="1" dirty="0">
                <a:solidFill>
                  <a:srgbClr val="1B2A2E"/>
                </a:solidFill>
                <a:latin typeface="Calibri" pitchFamily="34" charset="0"/>
                <a:ea typeface="Calibri" pitchFamily="34" charset="-122"/>
                <a:cs typeface="Calibri" pitchFamily="34" charset="-120"/>
              </a:rPr>
              <a:t>Social Commerce</a:t>
            </a:r>
            <a:endParaRPr lang="en-US" sz="1550" dirty="0"/>
          </a:p>
        </p:txBody>
      </p:sp>
      <p:sp>
        <p:nvSpPr>
          <p:cNvPr id="18" name="Text 13"/>
          <p:cNvSpPr/>
          <p:nvPr/>
        </p:nvSpPr>
        <p:spPr>
          <a:xfrm>
            <a:off x="1554480" y="4663440"/>
            <a:ext cx="3931920" cy="822960"/>
          </a:xfrm>
          <a:prstGeom prst="rect">
            <a:avLst/>
          </a:prstGeom>
          <a:noFill/>
          <a:ln/>
        </p:spPr>
        <p:txBody>
          <a:bodyPr wrap="square" lIns="0" tIns="0" rIns="0" bIns="0" rtlCol="0" anchor="ctr"/>
          <a:lstStyle/>
          <a:p>
            <a:pPr indent="0" marL="0">
              <a:lnSpc>
                <a:spcPct val="120000"/>
              </a:lnSpc>
              <a:buNone/>
            </a:pPr>
            <a:r>
              <a:rPr lang="en-US" sz="1200" dirty="0">
                <a:solidFill>
                  <a:srgbClr val="5C7378"/>
                </a:solidFill>
                <a:latin typeface="Calibri" pitchFamily="34" charset="0"/>
                <a:ea typeface="Calibri" pitchFamily="34" charset="-122"/>
                <a:cs typeface="Calibri" pitchFamily="34" charset="-120"/>
              </a:rPr>
              <a:t>Instagram Shop, TikTok Shop, Facebook Marketplace — buying directly from social apps.</a:t>
            </a:r>
            <a:endParaRPr lang="en-US" sz="1200" dirty="0"/>
          </a:p>
        </p:txBody>
      </p:sp>
      <p:sp>
        <p:nvSpPr>
          <p:cNvPr id="19" name="Shape 14"/>
          <p:cNvSpPr/>
          <p:nvPr/>
        </p:nvSpPr>
        <p:spPr>
          <a:xfrm>
            <a:off x="6080760" y="4023360"/>
            <a:ext cx="5212080" cy="2148840"/>
          </a:xfrm>
          <a:prstGeom prst="roundRect">
            <a:avLst>
              <a:gd name="adj" fmla="val 4255"/>
            </a:avLst>
          </a:prstGeom>
          <a:solidFill>
            <a:srgbClr val="F2F7F6"/>
          </a:solidFill>
          <a:ln/>
        </p:spPr>
      </p:sp>
      <p:sp>
        <p:nvSpPr>
          <p:cNvPr id="20" name="Shape 15"/>
          <p:cNvSpPr/>
          <p:nvPr/>
        </p:nvSpPr>
        <p:spPr>
          <a:xfrm>
            <a:off x="6355080" y="4297680"/>
            <a:ext cx="548640" cy="548640"/>
          </a:xfrm>
          <a:prstGeom prst="ellipse">
            <a:avLst/>
          </a:prstGeom>
          <a:solidFill>
            <a:srgbClr val="028090"/>
          </a:solidFill>
          <a:ln/>
        </p:spPr>
      </p:sp>
      <p:pic>
        <p:nvPicPr>
          <p:cNvPr id="21" name="Image 3" descr="/home/claude/onlineshopping/icons/pin_FFFFFF.png">    </p:cNvPr>
          <p:cNvPicPr>
            <a:picLocks noChangeAspect="1"/>
          </p:cNvPicPr>
          <p:nvPr/>
        </p:nvPicPr>
        <p:blipFill>
          <a:blip r:embed="rId4"/>
          <a:stretch>
            <a:fillRect/>
          </a:stretch>
        </p:blipFill>
        <p:spPr>
          <a:xfrm>
            <a:off x="6470294" y="4412894"/>
            <a:ext cx="318211" cy="318211"/>
          </a:xfrm>
          <a:prstGeom prst="rect">
            <a:avLst/>
          </a:prstGeom>
        </p:spPr>
      </p:pic>
      <p:sp>
        <p:nvSpPr>
          <p:cNvPr id="22" name="Text 16"/>
          <p:cNvSpPr/>
          <p:nvPr/>
        </p:nvSpPr>
        <p:spPr>
          <a:xfrm>
            <a:off x="7086600" y="4279392"/>
            <a:ext cx="3931920" cy="365760"/>
          </a:xfrm>
          <a:prstGeom prst="rect">
            <a:avLst/>
          </a:prstGeom>
          <a:noFill/>
          <a:ln/>
        </p:spPr>
        <p:txBody>
          <a:bodyPr wrap="square" lIns="0" tIns="0" rIns="0" bIns="0" rtlCol="0" anchor="ctr"/>
          <a:lstStyle/>
          <a:p>
            <a:pPr indent="0" marL="0">
              <a:buNone/>
            </a:pPr>
            <a:r>
              <a:rPr lang="en-US" sz="1550" b="1" dirty="0">
                <a:solidFill>
                  <a:srgbClr val="1B2A2E"/>
                </a:solidFill>
                <a:latin typeface="Calibri" pitchFamily="34" charset="0"/>
                <a:ea typeface="Calibri" pitchFamily="34" charset="-122"/>
                <a:cs typeface="Calibri" pitchFamily="34" charset="-120"/>
              </a:rPr>
              <a:t>Niche &amp; Local Platforms</a:t>
            </a:r>
            <a:endParaRPr lang="en-US" sz="1550" dirty="0"/>
          </a:p>
        </p:txBody>
      </p:sp>
      <p:sp>
        <p:nvSpPr>
          <p:cNvPr id="23" name="Text 17"/>
          <p:cNvSpPr/>
          <p:nvPr/>
        </p:nvSpPr>
        <p:spPr>
          <a:xfrm>
            <a:off x="7086600" y="4663440"/>
            <a:ext cx="3931920" cy="822960"/>
          </a:xfrm>
          <a:prstGeom prst="rect">
            <a:avLst/>
          </a:prstGeom>
          <a:noFill/>
          <a:ln/>
        </p:spPr>
        <p:txBody>
          <a:bodyPr wrap="square" lIns="0" tIns="0" rIns="0" bIns="0" rtlCol="0" anchor="ctr"/>
          <a:lstStyle/>
          <a:p>
            <a:pPr indent="0" marL="0">
              <a:lnSpc>
                <a:spcPct val="120000"/>
              </a:lnSpc>
              <a:buNone/>
            </a:pPr>
            <a:r>
              <a:rPr lang="en-US" sz="1200" dirty="0">
                <a:solidFill>
                  <a:srgbClr val="5C7378"/>
                </a:solidFill>
                <a:latin typeface="Calibri" pitchFamily="34" charset="0"/>
                <a:ea typeface="Calibri" pitchFamily="34" charset="-122"/>
                <a:cs typeface="Calibri" pitchFamily="34" charset="-120"/>
              </a:rPr>
              <a:t>Etsy for handmade goods, food delivery apps, and regional marketplaces.</a:t>
            </a:r>
            <a:endParaRPr lang="en-US" sz="1200" dirty="0"/>
          </a:p>
        </p:txBody>
      </p:sp>
      <p:sp>
        <p:nvSpPr>
          <p:cNvPr id="24" name="Text 18"/>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25" name="Text 19"/>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4</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6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3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40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Advantages of Online Shopping</a:t>
            </a:r>
            <a:endParaRPr lang="en-US" sz="3200" dirty="0"/>
          </a:p>
        </p:txBody>
      </p:sp>
      <p:sp>
        <p:nvSpPr>
          <p:cNvPr id="3" name="Shape 1"/>
          <p:cNvSpPr/>
          <p:nvPr/>
        </p:nvSpPr>
        <p:spPr>
          <a:xfrm>
            <a:off x="548640" y="1508760"/>
            <a:ext cx="3520440" cy="1965960"/>
          </a:xfrm>
          <a:prstGeom prst="roundRect">
            <a:avLst>
              <a:gd name="adj" fmla="val 4651"/>
            </a:avLst>
          </a:prstGeom>
          <a:solidFill>
            <a:srgbClr val="FFFFFF"/>
          </a:solidFill>
          <a:ln w="12700">
            <a:solidFill>
              <a:srgbClr val="DCE7E6"/>
            </a:solidFill>
            <a:prstDash val="solid"/>
          </a:ln>
        </p:spPr>
      </p:sp>
      <p:sp>
        <p:nvSpPr>
          <p:cNvPr id="4" name="Shape 2"/>
          <p:cNvSpPr/>
          <p:nvPr/>
        </p:nvSpPr>
        <p:spPr>
          <a:xfrm>
            <a:off x="777240" y="1737360"/>
            <a:ext cx="502920" cy="502920"/>
          </a:xfrm>
          <a:prstGeom prst="ellipse">
            <a:avLst/>
          </a:prstGeom>
          <a:solidFill>
            <a:srgbClr val="02C39A"/>
          </a:solidFill>
          <a:ln/>
        </p:spPr>
      </p:sp>
      <p:pic>
        <p:nvPicPr>
          <p:cNvPr id="5" name="Image 0" descr="/home/claude/onlineshopping/icons/clock_0B2E3D.png">    </p:cNvPr>
          <p:cNvPicPr>
            <a:picLocks noChangeAspect="1"/>
          </p:cNvPicPr>
          <p:nvPr/>
        </p:nvPicPr>
        <p:blipFill>
          <a:blip r:embed="rId1"/>
          <a:stretch>
            <a:fillRect/>
          </a:stretch>
        </p:blipFill>
        <p:spPr>
          <a:xfrm>
            <a:off x="882853" y="1842973"/>
            <a:ext cx="291694" cy="291694"/>
          </a:xfrm>
          <a:prstGeom prst="rect">
            <a:avLst/>
          </a:prstGeom>
        </p:spPr>
      </p:pic>
      <p:sp>
        <p:nvSpPr>
          <p:cNvPr id="6" name="Text 3"/>
          <p:cNvSpPr/>
          <p:nvPr/>
        </p:nvSpPr>
        <p:spPr>
          <a:xfrm>
            <a:off x="777240" y="2377440"/>
            <a:ext cx="3063240" cy="320040"/>
          </a:xfrm>
          <a:prstGeom prst="rect">
            <a:avLst/>
          </a:prstGeom>
          <a:noFill/>
          <a:ln/>
        </p:spPr>
        <p:txBody>
          <a:bodyPr wrap="square" lIns="0" tIns="0" rIns="0" bIns="0" rtlCol="0" anchor="ctr"/>
          <a:lstStyle/>
          <a:p>
            <a:pPr indent="0" marL="0">
              <a:buNone/>
            </a:pPr>
            <a:r>
              <a:rPr lang="en-US" sz="1400" b="1" dirty="0">
                <a:solidFill>
                  <a:srgbClr val="1B2A2E"/>
                </a:solidFill>
                <a:latin typeface="Calibri" pitchFamily="34" charset="0"/>
                <a:ea typeface="Calibri" pitchFamily="34" charset="-122"/>
                <a:cs typeface="Calibri" pitchFamily="34" charset="-120"/>
              </a:rPr>
              <a:t>Convenience</a:t>
            </a:r>
            <a:endParaRPr lang="en-US" sz="1400" dirty="0"/>
          </a:p>
        </p:txBody>
      </p:sp>
      <p:sp>
        <p:nvSpPr>
          <p:cNvPr id="7" name="Text 4"/>
          <p:cNvSpPr/>
          <p:nvPr/>
        </p:nvSpPr>
        <p:spPr>
          <a:xfrm>
            <a:off x="777240" y="2715768"/>
            <a:ext cx="3063240" cy="64008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Shop anytime, from anywhere, without travel or store hours.</a:t>
            </a:r>
            <a:endParaRPr lang="en-US" sz="1150" dirty="0"/>
          </a:p>
        </p:txBody>
      </p:sp>
      <p:sp>
        <p:nvSpPr>
          <p:cNvPr id="8" name="Shape 5"/>
          <p:cNvSpPr/>
          <p:nvPr/>
        </p:nvSpPr>
        <p:spPr>
          <a:xfrm>
            <a:off x="4297680" y="1508760"/>
            <a:ext cx="3520440" cy="1965960"/>
          </a:xfrm>
          <a:prstGeom prst="roundRect">
            <a:avLst>
              <a:gd name="adj" fmla="val 4651"/>
            </a:avLst>
          </a:prstGeom>
          <a:solidFill>
            <a:srgbClr val="FFFFFF"/>
          </a:solidFill>
          <a:ln w="12700">
            <a:solidFill>
              <a:srgbClr val="DCE7E6"/>
            </a:solidFill>
            <a:prstDash val="solid"/>
          </a:ln>
        </p:spPr>
      </p:sp>
      <p:sp>
        <p:nvSpPr>
          <p:cNvPr id="9" name="Shape 6"/>
          <p:cNvSpPr/>
          <p:nvPr/>
        </p:nvSpPr>
        <p:spPr>
          <a:xfrm>
            <a:off x="4526280" y="1737360"/>
            <a:ext cx="502920" cy="502920"/>
          </a:xfrm>
          <a:prstGeom prst="ellipse">
            <a:avLst/>
          </a:prstGeom>
          <a:solidFill>
            <a:srgbClr val="02C39A"/>
          </a:solidFill>
          <a:ln/>
        </p:spPr>
      </p:sp>
      <p:pic>
        <p:nvPicPr>
          <p:cNvPr id="10" name="Image 1" descr="/home/claude/onlineshopping/icons/tag_0B2E3D.png">    </p:cNvPr>
          <p:cNvPicPr>
            <a:picLocks noChangeAspect="1"/>
          </p:cNvPicPr>
          <p:nvPr/>
        </p:nvPicPr>
        <p:blipFill>
          <a:blip r:embed="rId2"/>
          <a:stretch>
            <a:fillRect/>
          </a:stretch>
        </p:blipFill>
        <p:spPr>
          <a:xfrm>
            <a:off x="4631893" y="1842973"/>
            <a:ext cx="291694" cy="291694"/>
          </a:xfrm>
          <a:prstGeom prst="rect">
            <a:avLst/>
          </a:prstGeom>
        </p:spPr>
      </p:pic>
      <p:sp>
        <p:nvSpPr>
          <p:cNvPr id="11" name="Text 7"/>
          <p:cNvSpPr/>
          <p:nvPr/>
        </p:nvSpPr>
        <p:spPr>
          <a:xfrm>
            <a:off x="4526280" y="2377440"/>
            <a:ext cx="3063240" cy="320040"/>
          </a:xfrm>
          <a:prstGeom prst="rect">
            <a:avLst/>
          </a:prstGeom>
          <a:noFill/>
          <a:ln/>
        </p:spPr>
        <p:txBody>
          <a:bodyPr wrap="square" lIns="0" tIns="0" rIns="0" bIns="0" rtlCol="0" anchor="ctr"/>
          <a:lstStyle/>
          <a:p>
            <a:pPr indent="0" marL="0">
              <a:buNone/>
            </a:pPr>
            <a:r>
              <a:rPr lang="en-US" sz="1400" b="1" dirty="0">
                <a:solidFill>
                  <a:srgbClr val="1B2A2E"/>
                </a:solidFill>
                <a:latin typeface="Calibri" pitchFamily="34" charset="0"/>
                <a:ea typeface="Calibri" pitchFamily="34" charset="-122"/>
                <a:cs typeface="Calibri" pitchFamily="34" charset="-120"/>
              </a:rPr>
              <a:t>Better prices</a:t>
            </a:r>
            <a:endParaRPr lang="en-US" sz="1400" dirty="0"/>
          </a:p>
        </p:txBody>
      </p:sp>
      <p:sp>
        <p:nvSpPr>
          <p:cNvPr id="12" name="Text 8"/>
          <p:cNvSpPr/>
          <p:nvPr/>
        </p:nvSpPr>
        <p:spPr>
          <a:xfrm>
            <a:off x="4526280" y="2715768"/>
            <a:ext cx="3063240" cy="64008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Easy price comparison and frequent online-only discounts.</a:t>
            </a:r>
            <a:endParaRPr lang="en-US" sz="1150" dirty="0"/>
          </a:p>
        </p:txBody>
      </p:sp>
      <p:sp>
        <p:nvSpPr>
          <p:cNvPr id="13" name="Shape 9"/>
          <p:cNvSpPr/>
          <p:nvPr/>
        </p:nvSpPr>
        <p:spPr>
          <a:xfrm>
            <a:off x="8046720" y="1508760"/>
            <a:ext cx="3520440" cy="1965960"/>
          </a:xfrm>
          <a:prstGeom prst="roundRect">
            <a:avLst>
              <a:gd name="adj" fmla="val 4651"/>
            </a:avLst>
          </a:prstGeom>
          <a:solidFill>
            <a:srgbClr val="FFFFFF"/>
          </a:solidFill>
          <a:ln w="12700">
            <a:solidFill>
              <a:srgbClr val="DCE7E6"/>
            </a:solidFill>
            <a:prstDash val="solid"/>
          </a:ln>
        </p:spPr>
      </p:sp>
      <p:sp>
        <p:nvSpPr>
          <p:cNvPr id="14" name="Shape 10"/>
          <p:cNvSpPr/>
          <p:nvPr/>
        </p:nvSpPr>
        <p:spPr>
          <a:xfrm>
            <a:off x="8275320" y="1737360"/>
            <a:ext cx="502920" cy="502920"/>
          </a:xfrm>
          <a:prstGeom prst="ellipse">
            <a:avLst/>
          </a:prstGeom>
          <a:solidFill>
            <a:srgbClr val="02C39A"/>
          </a:solidFill>
          <a:ln/>
        </p:spPr>
      </p:sp>
      <p:pic>
        <p:nvPicPr>
          <p:cNvPr id="15" name="Image 2" descr="/home/claude/onlineshopping/icons/cart_0B2E3D.png">    </p:cNvPr>
          <p:cNvPicPr>
            <a:picLocks noChangeAspect="1"/>
          </p:cNvPicPr>
          <p:nvPr/>
        </p:nvPicPr>
        <p:blipFill>
          <a:blip r:embed="rId3"/>
          <a:stretch>
            <a:fillRect/>
          </a:stretch>
        </p:blipFill>
        <p:spPr>
          <a:xfrm>
            <a:off x="8380933" y="1842973"/>
            <a:ext cx="291694" cy="291694"/>
          </a:xfrm>
          <a:prstGeom prst="rect">
            <a:avLst/>
          </a:prstGeom>
        </p:spPr>
      </p:pic>
      <p:sp>
        <p:nvSpPr>
          <p:cNvPr id="16" name="Text 11"/>
          <p:cNvSpPr/>
          <p:nvPr/>
        </p:nvSpPr>
        <p:spPr>
          <a:xfrm>
            <a:off x="8275320" y="2377440"/>
            <a:ext cx="3063240" cy="320040"/>
          </a:xfrm>
          <a:prstGeom prst="rect">
            <a:avLst/>
          </a:prstGeom>
          <a:noFill/>
          <a:ln/>
        </p:spPr>
        <p:txBody>
          <a:bodyPr wrap="square" lIns="0" tIns="0" rIns="0" bIns="0" rtlCol="0" anchor="ctr"/>
          <a:lstStyle/>
          <a:p>
            <a:pPr indent="0" marL="0">
              <a:buNone/>
            </a:pPr>
            <a:r>
              <a:rPr lang="en-US" sz="1400" b="1" dirty="0">
                <a:solidFill>
                  <a:srgbClr val="1B2A2E"/>
                </a:solidFill>
                <a:latin typeface="Calibri" pitchFamily="34" charset="0"/>
                <a:ea typeface="Calibri" pitchFamily="34" charset="-122"/>
                <a:cs typeface="Calibri" pitchFamily="34" charset="-120"/>
              </a:rPr>
              <a:t>More choice</a:t>
            </a:r>
            <a:endParaRPr lang="en-US" sz="1400" dirty="0"/>
          </a:p>
        </p:txBody>
      </p:sp>
      <p:sp>
        <p:nvSpPr>
          <p:cNvPr id="17" name="Text 12"/>
          <p:cNvSpPr/>
          <p:nvPr/>
        </p:nvSpPr>
        <p:spPr>
          <a:xfrm>
            <a:off x="8275320" y="2715768"/>
            <a:ext cx="3063240" cy="64008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Access to a far wider range of products and sellers.</a:t>
            </a:r>
            <a:endParaRPr lang="en-US" sz="1150" dirty="0"/>
          </a:p>
        </p:txBody>
      </p:sp>
      <p:sp>
        <p:nvSpPr>
          <p:cNvPr id="18" name="Shape 13"/>
          <p:cNvSpPr/>
          <p:nvPr/>
        </p:nvSpPr>
        <p:spPr>
          <a:xfrm>
            <a:off x="548640" y="3703320"/>
            <a:ext cx="3520440" cy="1965960"/>
          </a:xfrm>
          <a:prstGeom prst="roundRect">
            <a:avLst>
              <a:gd name="adj" fmla="val 4651"/>
            </a:avLst>
          </a:prstGeom>
          <a:solidFill>
            <a:srgbClr val="FFFFFF"/>
          </a:solidFill>
          <a:ln w="12700">
            <a:solidFill>
              <a:srgbClr val="DCE7E6"/>
            </a:solidFill>
            <a:prstDash val="solid"/>
          </a:ln>
        </p:spPr>
      </p:sp>
      <p:sp>
        <p:nvSpPr>
          <p:cNvPr id="19" name="Shape 14"/>
          <p:cNvSpPr/>
          <p:nvPr/>
        </p:nvSpPr>
        <p:spPr>
          <a:xfrm>
            <a:off x="777240" y="3931920"/>
            <a:ext cx="502920" cy="502920"/>
          </a:xfrm>
          <a:prstGeom prst="ellipse">
            <a:avLst/>
          </a:prstGeom>
          <a:solidFill>
            <a:srgbClr val="02C39A"/>
          </a:solidFill>
          <a:ln/>
        </p:spPr>
      </p:sp>
      <p:pic>
        <p:nvPicPr>
          <p:cNvPr id="20" name="Image 3" descr="/home/claude/onlineshopping/icons/star_0B2E3D.png">    </p:cNvPr>
          <p:cNvPicPr>
            <a:picLocks noChangeAspect="1"/>
          </p:cNvPicPr>
          <p:nvPr/>
        </p:nvPicPr>
        <p:blipFill>
          <a:blip r:embed="rId4"/>
          <a:stretch>
            <a:fillRect/>
          </a:stretch>
        </p:blipFill>
        <p:spPr>
          <a:xfrm>
            <a:off x="882853" y="4037533"/>
            <a:ext cx="291694" cy="291694"/>
          </a:xfrm>
          <a:prstGeom prst="rect">
            <a:avLst/>
          </a:prstGeom>
        </p:spPr>
      </p:pic>
      <p:sp>
        <p:nvSpPr>
          <p:cNvPr id="21" name="Text 15"/>
          <p:cNvSpPr/>
          <p:nvPr/>
        </p:nvSpPr>
        <p:spPr>
          <a:xfrm>
            <a:off x="777240" y="4572000"/>
            <a:ext cx="3063240" cy="320040"/>
          </a:xfrm>
          <a:prstGeom prst="rect">
            <a:avLst/>
          </a:prstGeom>
          <a:noFill/>
          <a:ln/>
        </p:spPr>
        <p:txBody>
          <a:bodyPr wrap="square" lIns="0" tIns="0" rIns="0" bIns="0" rtlCol="0" anchor="ctr"/>
          <a:lstStyle/>
          <a:p>
            <a:pPr indent="0" marL="0">
              <a:buNone/>
            </a:pPr>
            <a:r>
              <a:rPr lang="en-US" sz="1400" b="1" dirty="0">
                <a:solidFill>
                  <a:srgbClr val="1B2A2E"/>
                </a:solidFill>
                <a:latin typeface="Calibri" pitchFamily="34" charset="0"/>
                <a:ea typeface="Calibri" pitchFamily="34" charset="-122"/>
                <a:cs typeface="Calibri" pitchFamily="34" charset="-120"/>
              </a:rPr>
              <a:t>Reviews &amp; info</a:t>
            </a:r>
            <a:endParaRPr lang="en-US" sz="1400" dirty="0"/>
          </a:p>
        </p:txBody>
      </p:sp>
      <p:sp>
        <p:nvSpPr>
          <p:cNvPr id="22" name="Text 16"/>
          <p:cNvSpPr/>
          <p:nvPr/>
        </p:nvSpPr>
        <p:spPr>
          <a:xfrm>
            <a:off x="777240" y="4910328"/>
            <a:ext cx="3063240" cy="64008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Ratings and detailed specs help buyers decide with confidence.</a:t>
            </a:r>
            <a:endParaRPr lang="en-US" sz="1150" dirty="0"/>
          </a:p>
        </p:txBody>
      </p:sp>
      <p:sp>
        <p:nvSpPr>
          <p:cNvPr id="23" name="Shape 17"/>
          <p:cNvSpPr/>
          <p:nvPr/>
        </p:nvSpPr>
        <p:spPr>
          <a:xfrm>
            <a:off x="4297680" y="3703320"/>
            <a:ext cx="3520440" cy="1965960"/>
          </a:xfrm>
          <a:prstGeom prst="roundRect">
            <a:avLst>
              <a:gd name="adj" fmla="val 4651"/>
            </a:avLst>
          </a:prstGeom>
          <a:solidFill>
            <a:srgbClr val="FFFFFF"/>
          </a:solidFill>
          <a:ln w="12700">
            <a:solidFill>
              <a:srgbClr val="DCE7E6"/>
            </a:solidFill>
            <a:prstDash val="solid"/>
          </a:ln>
        </p:spPr>
      </p:sp>
      <p:sp>
        <p:nvSpPr>
          <p:cNvPr id="24" name="Shape 18"/>
          <p:cNvSpPr/>
          <p:nvPr/>
        </p:nvSpPr>
        <p:spPr>
          <a:xfrm>
            <a:off x="4526280" y="3931920"/>
            <a:ext cx="502920" cy="502920"/>
          </a:xfrm>
          <a:prstGeom prst="ellipse">
            <a:avLst/>
          </a:prstGeom>
          <a:solidFill>
            <a:srgbClr val="02C39A"/>
          </a:solidFill>
          <a:ln/>
        </p:spPr>
      </p:sp>
      <p:pic>
        <p:nvPicPr>
          <p:cNvPr id="25" name="Image 4" descr="/home/claude/onlineshopping/icons/truck_0B2E3D.png">    </p:cNvPr>
          <p:cNvPicPr>
            <a:picLocks noChangeAspect="1"/>
          </p:cNvPicPr>
          <p:nvPr/>
        </p:nvPicPr>
        <p:blipFill>
          <a:blip r:embed="rId5"/>
          <a:stretch>
            <a:fillRect/>
          </a:stretch>
        </p:blipFill>
        <p:spPr>
          <a:xfrm>
            <a:off x="4631893" y="4037533"/>
            <a:ext cx="291694" cy="291694"/>
          </a:xfrm>
          <a:prstGeom prst="rect">
            <a:avLst/>
          </a:prstGeom>
        </p:spPr>
      </p:pic>
      <p:sp>
        <p:nvSpPr>
          <p:cNvPr id="26" name="Text 19"/>
          <p:cNvSpPr/>
          <p:nvPr/>
        </p:nvSpPr>
        <p:spPr>
          <a:xfrm>
            <a:off x="4526280" y="4572000"/>
            <a:ext cx="3063240" cy="320040"/>
          </a:xfrm>
          <a:prstGeom prst="rect">
            <a:avLst/>
          </a:prstGeom>
          <a:noFill/>
          <a:ln/>
        </p:spPr>
        <p:txBody>
          <a:bodyPr wrap="square" lIns="0" tIns="0" rIns="0" bIns="0" rtlCol="0" anchor="ctr"/>
          <a:lstStyle/>
          <a:p>
            <a:pPr indent="0" marL="0">
              <a:buNone/>
            </a:pPr>
            <a:r>
              <a:rPr lang="en-US" sz="1400" b="1" dirty="0">
                <a:solidFill>
                  <a:srgbClr val="1B2A2E"/>
                </a:solidFill>
                <a:latin typeface="Calibri" pitchFamily="34" charset="0"/>
                <a:ea typeface="Calibri" pitchFamily="34" charset="-122"/>
                <a:cs typeface="Calibri" pitchFamily="34" charset="-120"/>
              </a:rPr>
              <a:t>Home delivery</a:t>
            </a:r>
            <a:endParaRPr lang="en-US" sz="1400" dirty="0"/>
          </a:p>
        </p:txBody>
      </p:sp>
      <p:sp>
        <p:nvSpPr>
          <p:cNvPr id="27" name="Text 20"/>
          <p:cNvSpPr/>
          <p:nvPr/>
        </p:nvSpPr>
        <p:spPr>
          <a:xfrm>
            <a:off x="4526280" y="4910328"/>
            <a:ext cx="3063240" cy="64008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Products arrive at your door — no carrying bags home.</a:t>
            </a:r>
            <a:endParaRPr lang="en-US" sz="1150" dirty="0"/>
          </a:p>
        </p:txBody>
      </p:sp>
      <p:sp>
        <p:nvSpPr>
          <p:cNvPr id="28" name="Shape 21"/>
          <p:cNvSpPr/>
          <p:nvPr/>
        </p:nvSpPr>
        <p:spPr>
          <a:xfrm>
            <a:off x="8046720" y="3703320"/>
            <a:ext cx="3520440" cy="1965960"/>
          </a:xfrm>
          <a:prstGeom prst="roundRect">
            <a:avLst>
              <a:gd name="adj" fmla="val 4651"/>
            </a:avLst>
          </a:prstGeom>
          <a:solidFill>
            <a:srgbClr val="FFFFFF"/>
          </a:solidFill>
          <a:ln w="12700">
            <a:solidFill>
              <a:srgbClr val="DCE7E6"/>
            </a:solidFill>
            <a:prstDash val="solid"/>
          </a:ln>
        </p:spPr>
      </p:sp>
      <p:sp>
        <p:nvSpPr>
          <p:cNvPr id="29" name="Shape 22"/>
          <p:cNvSpPr/>
          <p:nvPr/>
        </p:nvSpPr>
        <p:spPr>
          <a:xfrm>
            <a:off x="8275320" y="3931920"/>
            <a:ext cx="502920" cy="502920"/>
          </a:xfrm>
          <a:prstGeom prst="ellipse">
            <a:avLst/>
          </a:prstGeom>
          <a:solidFill>
            <a:srgbClr val="02C39A"/>
          </a:solidFill>
          <a:ln/>
        </p:spPr>
      </p:sp>
      <p:pic>
        <p:nvPicPr>
          <p:cNvPr id="30" name="Image 5" descr="/home/claude/onlineshopping/icons/refresh_0B2E3D.png">    </p:cNvPr>
          <p:cNvPicPr>
            <a:picLocks noChangeAspect="1"/>
          </p:cNvPicPr>
          <p:nvPr/>
        </p:nvPicPr>
        <p:blipFill>
          <a:blip r:embed="rId6"/>
          <a:stretch>
            <a:fillRect/>
          </a:stretch>
        </p:blipFill>
        <p:spPr>
          <a:xfrm>
            <a:off x="8380933" y="4037533"/>
            <a:ext cx="291694" cy="291694"/>
          </a:xfrm>
          <a:prstGeom prst="rect">
            <a:avLst/>
          </a:prstGeom>
        </p:spPr>
      </p:pic>
      <p:sp>
        <p:nvSpPr>
          <p:cNvPr id="31" name="Text 23"/>
          <p:cNvSpPr/>
          <p:nvPr/>
        </p:nvSpPr>
        <p:spPr>
          <a:xfrm>
            <a:off x="8275320" y="4572000"/>
            <a:ext cx="3063240" cy="320040"/>
          </a:xfrm>
          <a:prstGeom prst="rect">
            <a:avLst/>
          </a:prstGeom>
          <a:noFill/>
          <a:ln/>
        </p:spPr>
        <p:txBody>
          <a:bodyPr wrap="square" lIns="0" tIns="0" rIns="0" bIns="0" rtlCol="0" anchor="ctr"/>
          <a:lstStyle/>
          <a:p>
            <a:pPr indent="0" marL="0">
              <a:buNone/>
            </a:pPr>
            <a:r>
              <a:rPr lang="en-US" sz="1400" b="1" dirty="0">
                <a:solidFill>
                  <a:srgbClr val="1B2A2E"/>
                </a:solidFill>
                <a:latin typeface="Calibri" pitchFamily="34" charset="0"/>
                <a:ea typeface="Calibri" pitchFamily="34" charset="-122"/>
                <a:cs typeface="Calibri" pitchFamily="34" charset="-120"/>
              </a:rPr>
              <a:t>Easy returns</a:t>
            </a:r>
            <a:endParaRPr lang="en-US" sz="1400" dirty="0"/>
          </a:p>
        </p:txBody>
      </p:sp>
      <p:sp>
        <p:nvSpPr>
          <p:cNvPr id="32" name="Text 24"/>
          <p:cNvSpPr/>
          <p:nvPr/>
        </p:nvSpPr>
        <p:spPr>
          <a:xfrm>
            <a:off x="8275320" y="4910328"/>
            <a:ext cx="3063240" cy="64008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Most platforms offer simple return and refund policies.</a:t>
            </a:r>
            <a:endParaRPr lang="en-US" sz="1150" dirty="0"/>
          </a:p>
        </p:txBody>
      </p:sp>
      <p:sp>
        <p:nvSpPr>
          <p:cNvPr id="33" name="Text 25"/>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34" name="Text 26"/>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5</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6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3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40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8" presetID="10" presetClass="entr" presetSubtype="0" fill="hold" grpId="0">
                      <p:stCondLst>
                        <p:cond delay="154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81" presetID="10" presetClass="entr" presetSubtype="0" fill="hold" grpId="0">
                      <p:stCondLst>
                        <p:cond delay="161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4" presetID="10" presetClass="entr" presetSubtype="0" fill="hold" grpId="0">
                      <p:stCondLst>
                        <p:cond delay="168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7" presetID="10" presetClass="entr" presetSubtype="0" fill="hold" grpId="0">
                      <p:stCondLst>
                        <p:cond delay="175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90" presetID="10" presetClass="entr" presetSubtype="0" fill="hold" grpId="0">
                      <p:stCondLst>
                        <p:cond delay="182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3" presetID="10" presetClass="entr" presetSubtype="0" fill="hold" grpId="0">
                      <p:stCondLst>
                        <p:cond delay="189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6" presetID="10" presetClass="entr" presetSubtype="0" fill="hold" grpId="0">
                      <p:stCondLst>
                        <p:cond delay="196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par>
                    <p:cTn id="99" presetID="10" presetClass="entr" presetSubtype="0" fill="hold" grpId="0">
                      <p:stCondLst>
                        <p:cond delay="203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50"/>
                            <p:tgtEl>
                              <p:spTgt spid="31"/>
                            </p:tgtEl>
                          </p:cBhvr>
                        </p:animEffect>
                      </p:childTnLst>
                    </p:cTn>
                  </p:par>
                  <p:par>
                    <p:cTn id="102" presetID="10" presetClass="entr" presetSubtype="0" fill="hold" grpId="0">
                      <p:stCondLst>
                        <p:cond delay="210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E3D"/>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Disadvantages &amp; Risks</a:t>
            </a:r>
            <a:endParaRPr lang="en-US" sz="3200" dirty="0"/>
          </a:p>
        </p:txBody>
      </p:sp>
      <p:sp>
        <p:nvSpPr>
          <p:cNvPr id="3" name="Text 1"/>
          <p:cNvSpPr/>
          <p:nvPr/>
        </p:nvSpPr>
        <p:spPr>
          <a:xfrm>
            <a:off x="548640" y="1024128"/>
            <a:ext cx="9144000" cy="365760"/>
          </a:xfrm>
          <a:prstGeom prst="rect">
            <a:avLst/>
          </a:prstGeom>
          <a:noFill/>
          <a:ln/>
        </p:spPr>
        <p:txBody>
          <a:bodyPr wrap="square" lIns="0" tIns="0" rIns="0" bIns="0" rtlCol="0" anchor="ctr"/>
          <a:lstStyle/>
          <a:p>
            <a:pPr indent="0" marL="0">
              <a:buNone/>
            </a:pPr>
            <a:r>
              <a:rPr lang="en-US" sz="1350" dirty="0">
                <a:solidFill>
                  <a:srgbClr val="CADCE0"/>
                </a:solidFill>
                <a:latin typeface="Calibri" pitchFamily="34" charset="0"/>
                <a:ea typeface="Calibri" pitchFamily="34" charset="-122"/>
                <a:cs typeface="Calibri" pitchFamily="34" charset="-120"/>
              </a:rPr>
              <a:t>Online shopping isn't risk-free — teams and customers should stay aware</a:t>
            </a:r>
            <a:endParaRPr lang="en-US" sz="1350" dirty="0"/>
          </a:p>
        </p:txBody>
      </p:sp>
      <p:sp>
        <p:nvSpPr>
          <p:cNvPr id="4" name="Shape 2"/>
          <p:cNvSpPr/>
          <p:nvPr/>
        </p:nvSpPr>
        <p:spPr>
          <a:xfrm>
            <a:off x="548640" y="1691640"/>
            <a:ext cx="3520440" cy="1965960"/>
          </a:xfrm>
          <a:prstGeom prst="roundRect">
            <a:avLst>
              <a:gd name="adj" fmla="val 4651"/>
            </a:avLst>
          </a:prstGeom>
          <a:solidFill>
            <a:srgbClr val="12384A"/>
          </a:solidFill>
          <a:ln/>
        </p:spPr>
      </p:sp>
      <p:sp>
        <p:nvSpPr>
          <p:cNvPr id="5" name="Shape 3"/>
          <p:cNvSpPr/>
          <p:nvPr/>
        </p:nvSpPr>
        <p:spPr>
          <a:xfrm>
            <a:off x="777240" y="1920240"/>
            <a:ext cx="502920" cy="502920"/>
          </a:xfrm>
          <a:prstGeom prst="ellipse">
            <a:avLst/>
          </a:prstGeom>
          <a:solidFill>
            <a:srgbClr val="E76F51"/>
          </a:solidFill>
          <a:ln/>
        </p:spPr>
      </p:sp>
      <p:pic>
        <p:nvPicPr>
          <p:cNvPr id="6" name="Image 0" descr="/home/claude/onlineshopping/icons/eye_FFFFFF.png">    </p:cNvPr>
          <p:cNvPicPr>
            <a:picLocks noChangeAspect="1"/>
          </p:cNvPicPr>
          <p:nvPr/>
        </p:nvPicPr>
        <p:blipFill>
          <a:blip r:embed="rId1"/>
          <a:stretch>
            <a:fillRect/>
          </a:stretch>
        </p:blipFill>
        <p:spPr>
          <a:xfrm>
            <a:off x="882853" y="2025853"/>
            <a:ext cx="291694" cy="291694"/>
          </a:xfrm>
          <a:prstGeom prst="rect">
            <a:avLst/>
          </a:prstGeom>
        </p:spPr>
      </p:pic>
      <p:sp>
        <p:nvSpPr>
          <p:cNvPr id="7" name="Text 4"/>
          <p:cNvSpPr/>
          <p:nvPr/>
        </p:nvSpPr>
        <p:spPr>
          <a:xfrm>
            <a:off x="777240" y="2560320"/>
            <a:ext cx="306324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Can't inspect items</a:t>
            </a:r>
            <a:endParaRPr lang="en-US" sz="1350" dirty="0"/>
          </a:p>
        </p:txBody>
      </p:sp>
      <p:sp>
        <p:nvSpPr>
          <p:cNvPr id="8" name="Text 5"/>
          <p:cNvSpPr/>
          <p:nvPr/>
        </p:nvSpPr>
        <p:spPr>
          <a:xfrm>
            <a:off x="777240" y="289864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B9CCD0"/>
                </a:solidFill>
                <a:latin typeface="Calibri" pitchFamily="34" charset="0"/>
                <a:ea typeface="Calibri" pitchFamily="34" charset="-122"/>
                <a:cs typeface="Calibri" pitchFamily="34" charset="-120"/>
              </a:rPr>
              <a:t>No physical touch or trial before buying; product may differ from photos.</a:t>
            </a:r>
            <a:endParaRPr lang="en-US" sz="1100" dirty="0"/>
          </a:p>
        </p:txBody>
      </p:sp>
      <p:sp>
        <p:nvSpPr>
          <p:cNvPr id="9" name="Shape 6"/>
          <p:cNvSpPr/>
          <p:nvPr/>
        </p:nvSpPr>
        <p:spPr>
          <a:xfrm>
            <a:off x="4297680" y="1691640"/>
            <a:ext cx="3520440" cy="1965960"/>
          </a:xfrm>
          <a:prstGeom prst="roundRect">
            <a:avLst>
              <a:gd name="adj" fmla="val 4651"/>
            </a:avLst>
          </a:prstGeom>
          <a:solidFill>
            <a:srgbClr val="12384A"/>
          </a:solidFill>
          <a:ln/>
        </p:spPr>
      </p:sp>
      <p:sp>
        <p:nvSpPr>
          <p:cNvPr id="10" name="Shape 7"/>
          <p:cNvSpPr/>
          <p:nvPr/>
        </p:nvSpPr>
        <p:spPr>
          <a:xfrm>
            <a:off x="4526280" y="1920240"/>
            <a:ext cx="502920" cy="502920"/>
          </a:xfrm>
          <a:prstGeom prst="ellipse">
            <a:avLst/>
          </a:prstGeom>
          <a:solidFill>
            <a:srgbClr val="E76F51"/>
          </a:solidFill>
          <a:ln/>
        </p:spPr>
      </p:sp>
      <p:pic>
        <p:nvPicPr>
          <p:cNvPr id="11" name="Image 1" descr="/home/claude/onlineshopping/icons/alert_FFFFFF.png">    </p:cNvPr>
          <p:cNvPicPr>
            <a:picLocks noChangeAspect="1"/>
          </p:cNvPicPr>
          <p:nvPr/>
        </p:nvPicPr>
        <p:blipFill>
          <a:blip r:embed="rId2"/>
          <a:stretch>
            <a:fillRect/>
          </a:stretch>
        </p:blipFill>
        <p:spPr>
          <a:xfrm>
            <a:off x="4631893" y="2025853"/>
            <a:ext cx="291694" cy="291694"/>
          </a:xfrm>
          <a:prstGeom prst="rect">
            <a:avLst/>
          </a:prstGeom>
        </p:spPr>
      </p:pic>
      <p:sp>
        <p:nvSpPr>
          <p:cNvPr id="12" name="Text 8"/>
          <p:cNvSpPr/>
          <p:nvPr/>
        </p:nvSpPr>
        <p:spPr>
          <a:xfrm>
            <a:off x="4526280" y="2560320"/>
            <a:ext cx="306324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Fraud &amp; scams</a:t>
            </a:r>
            <a:endParaRPr lang="en-US" sz="1350" dirty="0"/>
          </a:p>
        </p:txBody>
      </p:sp>
      <p:sp>
        <p:nvSpPr>
          <p:cNvPr id="13" name="Text 9"/>
          <p:cNvSpPr/>
          <p:nvPr/>
        </p:nvSpPr>
        <p:spPr>
          <a:xfrm>
            <a:off x="4526280" y="289864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B9CCD0"/>
                </a:solidFill>
                <a:latin typeface="Calibri" pitchFamily="34" charset="0"/>
                <a:ea typeface="Calibri" pitchFamily="34" charset="-122"/>
                <a:cs typeface="Calibri" pitchFamily="34" charset="-120"/>
              </a:rPr>
              <a:t>Fake stores, phishing links, and counterfeit goods target shoppers.</a:t>
            </a:r>
            <a:endParaRPr lang="en-US" sz="1100" dirty="0"/>
          </a:p>
        </p:txBody>
      </p:sp>
      <p:sp>
        <p:nvSpPr>
          <p:cNvPr id="14" name="Shape 10"/>
          <p:cNvSpPr/>
          <p:nvPr/>
        </p:nvSpPr>
        <p:spPr>
          <a:xfrm>
            <a:off x="8046720" y="1691640"/>
            <a:ext cx="3520440" cy="1965960"/>
          </a:xfrm>
          <a:prstGeom prst="roundRect">
            <a:avLst>
              <a:gd name="adj" fmla="val 4651"/>
            </a:avLst>
          </a:prstGeom>
          <a:solidFill>
            <a:srgbClr val="12384A"/>
          </a:solidFill>
          <a:ln/>
        </p:spPr>
      </p:sp>
      <p:sp>
        <p:nvSpPr>
          <p:cNvPr id="15" name="Shape 11"/>
          <p:cNvSpPr/>
          <p:nvPr/>
        </p:nvSpPr>
        <p:spPr>
          <a:xfrm>
            <a:off x="8275320" y="1920240"/>
            <a:ext cx="502920" cy="502920"/>
          </a:xfrm>
          <a:prstGeom prst="ellipse">
            <a:avLst/>
          </a:prstGeom>
          <a:solidFill>
            <a:srgbClr val="E76F51"/>
          </a:solidFill>
          <a:ln/>
        </p:spPr>
      </p:sp>
      <p:pic>
        <p:nvPicPr>
          <p:cNvPr id="16" name="Image 2" descr="/home/claude/onlineshopping/icons/lock_FFFFFF.png">    </p:cNvPr>
          <p:cNvPicPr>
            <a:picLocks noChangeAspect="1"/>
          </p:cNvPicPr>
          <p:nvPr/>
        </p:nvPicPr>
        <p:blipFill>
          <a:blip r:embed="rId3"/>
          <a:stretch>
            <a:fillRect/>
          </a:stretch>
        </p:blipFill>
        <p:spPr>
          <a:xfrm>
            <a:off x="8380933" y="2025853"/>
            <a:ext cx="291694" cy="291694"/>
          </a:xfrm>
          <a:prstGeom prst="rect">
            <a:avLst/>
          </a:prstGeom>
        </p:spPr>
      </p:pic>
      <p:sp>
        <p:nvSpPr>
          <p:cNvPr id="17" name="Text 12"/>
          <p:cNvSpPr/>
          <p:nvPr/>
        </p:nvSpPr>
        <p:spPr>
          <a:xfrm>
            <a:off x="8275320" y="2560320"/>
            <a:ext cx="306324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 &amp; privacy risk</a:t>
            </a:r>
            <a:endParaRPr lang="en-US" sz="1350" dirty="0"/>
          </a:p>
        </p:txBody>
      </p:sp>
      <p:sp>
        <p:nvSpPr>
          <p:cNvPr id="18" name="Text 13"/>
          <p:cNvSpPr/>
          <p:nvPr/>
        </p:nvSpPr>
        <p:spPr>
          <a:xfrm>
            <a:off x="8275320" y="289864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B9CCD0"/>
                </a:solidFill>
                <a:latin typeface="Calibri" pitchFamily="34" charset="0"/>
                <a:ea typeface="Calibri" pitchFamily="34" charset="-122"/>
                <a:cs typeface="Calibri" pitchFamily="34" charset="-120"/>
              </a:rPr>
              <a:t>Personal and payment data can be exposed in a breach.</a:t>
            </a:r>
            <a:endParaRPr lang="en-US" sz="1100" dirty="0"/>
          </a:p>
        </p:txBody>
      </p:sp>
      <p:sp>
        <p:nvSpPr>
          <p:cNvPr id="19" name="Shape 14"/>
          <p:cNvSpPr/>
          <p:nvPr/>
        </p:nvSpPr>
        <p:spPr>
          <a:xfrm>
            <a:off x="548640" y="3886200"/>
            <a:ext cx="3520440" cy="1965960"/>
          </a:xfrm>
          <a:prstGeom prst="roundRect">
            <a:avLst>
              <a:gd name="adj" fmla="val 4651"/>
            </a:avLst>
          </a:prstGeom>
          <a:solidFill>
            <a:srgbClr val="12384A"/>
          </a:solidFill>
          <a:ln/>
        </p:spPr>
      </p:sp>
      <p:sp>
        <p:nvSpPr>
          <p:cNvPr id="20" name="Shape 15"/>
          <p:cNvSpPr/>
          <p:nvPr/>
        </p:nvSpPr>
        <p:spPr>
          <a:xfrm>
            <a:off x="777240" y="4114800"/>
            <a:ext cx="502920" cy="502920"/>
          </a:xfrm>
          <a:prstGeom prst="ellipse">
            <a:avLst/>
          </a:prstGeom>
          <a:solidFill>
            <a:srgbClr val="E76F51"/>
          </a:solidFill>
          <a:ln/>
        </p:spPr>
      </p:sp>
      <p:pic>
        <p:nvPicPr>
          <p:cNvPr id="21" name="Image 3" descr="/home/claude/onlineshopping/icons/truck_FFFFFF.png">    </p:cNvPr>
          <p:cNvPicPr>
            <a:picLocks noChangeAspect="1"/>
          </p:cNvPicPr>
          <p:nvPr/>
        </p:nvPicPr>
        <p:blipFill>
          <a:blip r:embed="rId4"/>
          <a:stretch>
            <a:fillRect/>
          </a:stretch>
        </p:blipFill>
        <p:spPr>
          <a:xfrm>
            <a:off x="882853" y="4220413"/>
            <a:ext cx="291694" cy="291694"/>
          </a:xfrm>
          <a:prstGeom prst="rect">
            <a:avLst/>
          </a:prstGeom>
        </p:spPr>
      </p:pic>
      <p:sp>
        <p:nvSpPr>
          <p:cNvPr id="22" name="Text 16"/>
          <p:cNvSpPr/>
          <p:nvPr/>
        </p:nvSpPr>
        <p:spPr>
          <a:xfrm>
            <a:off x="777240" y="4754880"/>
            <a:ext cx="306324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Delivery issues</a:t>
            </a:r>
            <a:endParaRPr lang="en-US" sz="1350" dirty="0"/>
          </a:p>
        </p:txBody>
      </p:sp>
      <p:sp>
        <p:nvSpPr>
          <p:cNvPr id="23" name="Text 17"/>
          <p:cNvSpPr/>
          <p:nvPr/>
        </p:nvSpPr>
        <p:spPr>
          <a:xfrm>
            <a:off x="777240" y="509320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B9CCD0"/>
                </a:solidFill>
                <a:latin typeface="Calibri" pitchFamily="34" charset="0"/>
                <a:ea typeface="Calibri" pitchFamily="34" charset="-122"/>
                <a:cs typeface="Calibri" pitchFamily="34" charset="-120"/>
              </a:rPr>
              <a:t>Delays, damaged parcels, or lost shipments during transit.</a:t>
            </a:r>
            <a:endParaRPr lang="en-US" sz="1100" dirty="0"/>
          </a:p>
        </p:txBody>
      </p:sp>
      <p:sp>
        <p:nvSpPr>
          <p:cNvPr id="24" name="Shape 18"/>
          <p:cNvSpPr/>
          <p:nvPr/>
        </p:nvSpPr>
        <p:spPr>
          <a:xfrm>
            <a:off x="4297680" y="3886200"/>
            <a:ext cx="3520440" cy="1965960"/>
          </a:xfrm>
          <a:prstGeom prst="roundRect">
            <a:avLst>
              <a:gd name="adj" fmla="val 4651"/>
            </a:avLst>
          </a:prstGeom>
          <a:solidFill>
            <a:srgbClr val="12384A"/>
          </a:solidFill>
          <a:ln/>
        </p:spPr>
      </p:sp>
      <p:sp>
        <p:nvSpPr>
          <p:cNvPr id="25" name="Shape 19"/>
          <p:cNvSpPr/>
          <p:nvPr/>
        </p:nvSpPr>
        <p:spPr>
          <a:xfrm>
            <a:off x="4526280" y="4114800"/>
            <a:ext cx="502920" cy="502920"/>
          </a:xfrm>
          <a:prstGeom prst="ellipse">
            <a:avLst/>
          </a:prstGeom>
          <a:solidFill>
            <a:srgbClr val="E76F51"/>
          </a:solidFill>
          <a:ln/>
        </p:spPr>
      </p:sp>
      <p:pic>
        <p:nvPicPr>
          <p:cNvPr id="26" name="Image 4" descr="/home/claude/onlineshopping/icons/refresh_FFFFFF.png">    </p:cNvPr>
          <p:cNvPicPr>
            <a:picLocks noChangeAspect="1"/>
          </p:cNvPicPr>
          <p:nvPr/>
        </p:nvPicPr>
        <p:blipFill>
          <a:blip r:embed="rId5"/>
          <a:stretch>
            <a:fillRect/>
          </a:stretch>
        </p:blipFill>
        <p:spPr>
          <a:xfrm>
            <a:off x="4631893" y="4220413"/>
            <a:ext cx="291694" cy="291694"/>
          </a:xfrm>
          <a:prstGeom prst="rect">
            <a:avLst/>
          </a:prstGeom>
        </p:spPr>
      </p:pic>
      <p:sp>
        <p:nvSpPr>
          <p:cNvPr id="27" name="Text 20"/>
          <p:cNvSpPr/>
          <p:nvPr/>
        </p:nvSpPr>
        <p:spPr>
          <a:xfrm>
            <a:off x="4526280" y="4754880"/>
            <a:ext cx="306324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Return hassles</a:t>
            </a:r>
            <a:endParaRPr lang="en-US" sz="1350" dirty="0"/>
          </a:p>
        </p:txBody>
      </p:sp>
      <p:sp>
        <p:nvSpPr>
          <p:cNvPr id="28" name="Text 21"/>
          <p:cNvSpPr/>
          <p:nvPr/>
        </p:nvSpPr>
        <p:spPr>
          <a:xfrm>
            <a:off x="4526280" y="509320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B9CCD0"/>
                </a:solidFill>
                <a:latin typeface="Calibri" pitchFamily="34" charset="0"/>
                <a:ea typeface="Calibri" pitchFamily="34" charset="-122"/>
                <a:cs typeface="Calibri" pitchFamily="34" charset="-120"/>
              </a:rPr>
              <a:t>Some categories have strict, slow, or costly return policies.</a:t>
            </a:r>
            <a:endParaRPr lang="en-US" sz="1100" dirty="0"/>
          </a:p>
        </p:txBody>
      </p:sp>
      <p:sp>
        <p:nvSpPr>
          <p:cNvPr id="29" name="Shape 22"/>
          <p:cNvSpPr/>
          <p:nvPr/>
        </p:nvSpPr>
        <p:spPr>
          <a:xfrm>
            <a:off x="8046720" y="3886200"/>
            <a:ext cx="3520440" cy="1965960"/>
          </a:xfrm>
          <a:prstGeom prst="roundRect">
            <a:avLst>
              <a:gd name="adj" fmla="val 4651"/>
            </a:avLst>
          </a:prstGeom>
          <a:solidFill>
            <a:srgbClr val="12384A"/>
          </a:solidFill>
          <a:ln/>
        </p:spPr>
      </p:sp>
      <p:sp>
        <p:nvSpPr>
          <p:cNvPr id="30" name="Shape 23"/>
          <p:cNvSpPr/>
          <p:nvPr/>
        </p:nvSpPr>
        <p:spPr>
          <a:xfrm>
            <a:off x="8275320" y="4114800"/>
            <a:ext cx="502920" cy="502920"/>
          </a:xfrm>
          <a:prstGeom prst="ellipse">
            <a:avLst/>
          </a:prstGeom>
          <a:solidFill>
            <a:srgbClr val="E76F51"/>
          </a:solidFill>
          <a:ln/>
        </p:spPr>
      </p:sp>
      <p:pic>
        <p:nvPicPr>
          <p:cNvPr id="31" name="Image 5" descr="/home/claude/onlineshopping/icons/cart_FFFFFF.png">    </p:cNvPr>
          <p:cNvPicPr>
            <a:picLocks noChangeAspect="1"/>
          </p:cNvPicPr>
          <p:nvPr/>
        </p:nvPicPr>
        <p:blipFill>
          <a:blip r:embed="rId6"/>
          <a:stretch>
            <a:fillRect/>
          </a:stretch>
        </p:blipFill>
        <p:spPr>
          <a:xfrm>
            <a:off x="8380933" y="4220413"/>
            <a:ext cx="291694" cy="291694"/>
          </a:xfrm>
          <a:prstGeom prst="rect">
            <a:avLst/>
          </a:prstGeom>
        </p:spPr>
      </p:pic>
      <p:sp>
        <p:nvSpPr>
          <p:cNvPr id="32" name="Text 24"/>
          <p:cNvSpPr/>
          <p:nvPr/>
        </p:nvSpPr>
        <p:spPr>
          <a:xfrm>
            <a:off x="8275320" y="4754880"/>
            <a:ext cx="306324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Overspending</a:t>
            </a:r>
            <a:endParaRPr lang="en-US" sz="1350" dirty="0"/>
          </a:p>
        </p:txBody>
      </p:sp>
      <p:sp>
        <p:nvSpPr>
          <p:cNvPr id="33" name="Text 25"/>
          <p:cNvSpPr/>
          <p:nvPr/>
        </p:nvSpPr>
        <p:spPr>
          <a:xfrm>
            <a:off x="8275320" y="509320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B9CCD0"/>
                </a:solidFill>
                <a:latin typeface="Calibri" pitchFamily="34" charset="0"/>
                <a:ea typeface="Calibri" pitchFamily="34" charset="-122"/>
                <a:cs typeface="Calibri" pitchFamily="34" charset="-120"/>
              </a:rPr>
              <a:t>One-click buying and ads can encourage impulse purchases.</a:t>
            </a:r>
            <a:endParaRPr lang="en-US" sz="1100" dirty="0"/>
          </a:p>
        </p:txBody>
      </p:sp>
      <p:sp>
        <p:nvSpPr>
          <p:cNvPr id="34" name="Text 26"/>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9FB8BC"/>
                </a:solidFill>
                <a:latin typeface="Calibri" pitchFamily="34" charset="0"/>
                <a:ea typeface="Calibri" pitchFamily="34" charset="-122"/>
                <a:cs typeface="Calibri" pitchFamily="34" charset="-120"/>
              </a:rPr>
              <a:t>Online Shopping — Team Briefing</a:t>
            </a:r>
            <a:endParaRPr lang="en-US" sz="900" dirty="0"/>
          </a:p>
        </p:txBody>
      </p:sp>
      <p:sp>
        <p:nvSpPr>
          <p:cNvPr id="35" name="Text 27"/>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FB8BC"/>
                </a:solidFill>
                <a:latin typeface="Calibri" pitchFamily="34" charset="0"/>
                <a:ea typeface="Calibri" pitchFamily="34" charset="-122"/>
                <a:cs typeface="Calibri" pitchFamily="34" charset="-120"/>
              </a:rPr>
              <a:t>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68"/>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36"/>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04"/>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72"/>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4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08"/>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76"/>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44"/>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12"/>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68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48"/>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16"/>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884"/>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52"/>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2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088"/>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56"/>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24"/>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292"/>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36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28"/>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8" presetID="10" presetClass="entr" presetSubtype="0" fill="hold" grpId="0">
                      <p:stCondLst>
                        <p:cond delay="1496"/>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81" presetID="10" presetClass="entr" presetSubtype="0" fill="hold" grpId="0">
                      <p:stCondLst>
                        <p:cond delay="1564"/>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4" presetID="10" presetClass="entr" presetSubtype="0" fill="hold" grpId="0">
                      <p:stCondLst>
                        <p:cond delay="1632"/>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7" presetID="10" presetClass="entr" presetSubtype="0" fill="hold" grpId="0">
                      <p:stCondLst>
                        <p:cond delay="170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90" presetID="10" presetClass="entr" presetSubtype="0" fill="hold" grpId="0">
                      <p:stCondLst>
                        <p:cond delay="1768"/>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3" presetID="10" presetClass="entr" presetSubtype="0" fill="hold" grpId="0">
                      <p:stCondLst>
                        <p:cond delay="1836"/>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6" presetID="10" presetClass="entr" presetSubtype="0" fill="hold" grpId="0">
                      <p:stCondLst>
                        <p:cond delay="1904"/>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par>
                    <p:cTn id="99" presetID="10" presetClass="entr" presetSubtype="0" fill="hold" grpId="0">
                      <p:stCondLst>
                        <p:cond delay="1972"/>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50"/>
                            <p:tgtEl>
                              <p:spTgt spid="31"/>
                            </p:tgtEl>
                          </p:cBhvr>
                        </p:animEffect>
                      </p:childTnLst>
                    </p:cTn>
                  </p:par>
                  <p:par>
                    <p:cTn id="102" presetID="10" presetClass="entr" presetSubtype="0" fill="hold" grpId="0">
                      <p:stCondLst>
                        <p:cond delay="204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par>
                    <p:cTn id="105" presetID="10" presetClass="entr" presetSubtype="0" fill="hold" grpId="0">
                      <p:stCondLst>
                        <p:cond delay="2108"/>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350"/>
                            <p:tgtEl>
                              <p:spTgt spid="33"/>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Online Payment Methods</a:t>
            </a:r>
            <a:endParaRPr lang="en-US" sz="3200" dirty="0"/>
          </a:p>
        </p:txBody>
      </p:sp>
      <p:sp>
        <p:nvSpPr>
          <p:cNvPr id="3" name="Text 1"/>
          <p:cNvSpPr/>
          <p:nvPr/>
        </p:nvSpPr>
        <p:spPr>
          <a:xfrm>
            <a:off x="548640" y="1005840"/>
            <a:ext cx="9144000" cy="365760"/>
          </a:xfrm>
          <a:prstGeom prst="rect">
            <a:avLst/>
          </a:prstGeom>
          <a:noFill/>
          <a:ln/>
        </p:spPr>
        <p:txBody>
          <a:bodyPr wrap="square" lIns="0" tIns="0" rIns="0" bIns="0" rtlCol="0" anchor="ctr"/>
          <a:lstStyle/>
          <a:p>
            <a:pPr indent="0" marL="0">
              <a:buNone/>
            </a:pPr>
            <a:r>
              <a:rPr lang="en-US" sz="1350" dirty="0">
                <a:solidFill>
                  <a:srgbClr val="5C7378"/>
                </a:solidFill>
                <a:latin typeface="Calibri" pitchFamily="34" charset="0"/>
                <a:ea typeface="Calibri" pitchFamily="34" charset="-122"/>
                <a:cs typeface="Calibri" pitchFamily="34" charset="-120"/>
              </a:rPr>
              <a:t>Shoppers today expect multiple fast, secure ways to pay</a:t>
            </a:r>
            <a:endParaRPr lang="en-US" sz="1350" dirty="0"/>
          </a:p>
        </p:txBody>
      </p:sp>
      <p:sp>
        <p:nvSpPr>
          <p:cNvPr id="4" name="Shape 2"/>
          <p:cNvSpPr/>
          <p:nvPr/>
        </p:nvSpPr>
        <p:spPr>
          <a:xfrm>
            <a:off x="548640" y="1508760"/>
            <a:ext cx="3520440" cy="1965960"/>
          </a:xfrm>
          <a:prstGeom prst="roundRect">
            <a:avLst>
              <a:gd name="adj" fmla="val 4651"/>
            </a:avLst>
          </a:prstGeom>
          <a:solidFill>
            <a:srgbClr val="F2F7F6"/>
          </a:solidFill>
          <a:ln/>
        </p:spPr>
      </p:sp>
      <p:sp>
        <p:nvSpPr>
          <p:cNvPr id="5" name="Shape 3"/>
          <p:cNvSpPr/>
          <p:nvPr/>
        </p:nvSpPr>
        <p:spPr>
          <a:xfrm>
            <a:off x="777240" y="1737360"/>
            <a:ext cx="502920" cy="502920"/>
          </a:xfrm>
          <a:prstGeom prst="ellipse">
            <a:avLst/>
          </a:prstGeom>
          <a:solidFill>
            <a:srgbClr val="028090"/>
          </a:solidFill>
          <a:ln/>
        </p:spPr>
      </p:sp>
      <p:pic>
        <p:nvPicPr>
          <p:cNvPr id="6" name="Image 0" descr="/home/claude/onlineshopping/icons/card_FFFFFF.png">    </p:cNvPr>
          <p:cNvPicPr>
            <a:picLocks noChangeAspect="1"/>
          </p:cNvPicPr>
          <p:nvPr/>
        </p:nvPicPr>
        <p:blipFill>
          <a:blip r:embed="rId1"/>
          <a:stretch>
            <a:fillRect/>
          </a:stretch>
        </p:blipFill>
        <p:spPr>
          <a:xfrm>
            <a:off x="882853" y="1842973"/>
            <a:ext cx="291694" cy="291694"/>
          </a:xfrm>
          <a:prstGeom prst="rect">
            <a:avLst/>
          </a:prstGeom>
        </p:spPr>
      </p:pic>
      <p:sp>
        <p:nvSpPr>
          <p:cNvPr id="7" name="Text 4"/>
          <p:cNvSpPr/>
          <p:nvPr/>
        </p:nvSpPr>
        <p:spPr>
          <a:xfrm>
            <a:off x="777240" y="2377440"/>
            <a:ext cx="3063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Credit / Debit Cards</a:t>
            </a:r>
            <a:endParaRPr lang="en-US" sz="1350" dirty="0"/>
          </a:p>
        </p:txBody>
      </p:sp>
      <p:sp>
        <p:nvSpPr>
          <p:cNvPr id="8" name="Text 5"/>
          <p:cNvSpPr/>
          <p:nvPr/>
        </p:nvSpPr>
        <p:spPr>
          <a:xfrm>
            <a:off x="777240" y="271576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5C7378"/>
                </a:solidFill>
                <a:latin typeface="Calibri" pitchFamily="34" charset="0"/>
                <a:ea typeface="Calibri" pitchFamily="34" charset="-122"/>
                <a:cs typeface="Calibri" pitchFamily="34" charset="-120"/>
              </a:rPr>
              <a:t>Visa, Mastercard and similar — the most widely used method.</a:t>
            </a:r>
            <a:endParaRPr lang="en-US" sz="1100" dirty="0"/>
          </a:p>
        </p:txBody>
      </p:sp>
      <p:sp>
        <p:nvSpPr>
          <p:cNvPr id="9" name="Shape 6"/>
          <p:cNvSpPr/>
          <p:nvPr/>
        </p:nvSpPr>
        <p:spPr>
          <a:xfrm>
            <a:off x="4297680" y="1508760"/>
            <a:ext cx="3520440" cy="1965960"/>
          </a:xfrm>
          <a:prstGeom prst="roundRect">
            <a:avLst>
              <a:gd name="adj" fmla="val 4651"/>
            </a:avLst>
          </a:prstGeom>
          <a:solidFill>
            <a:srgbClr val="F2F7F6"/>
          </a:solidFill>
          <a:ln/>
        </p:spPr>
      </p:sp>
      <p:sp>
        <p:nvSpPr>
          <p:cNvPr id="10" name="Shape 7"/>
          <p:cNvSpPr/>
          <p:nvPr/>
        </p:nvSpPr>
        <p:spPr>
          <a:xfrm>
            <a:off x="4526280" y="1737360"/>
            <a:ext cx="502920" cy="502920"/>
          </a:xfrm>
          <a:prstGeom prst="ellipse">
            <a:avLst/>
          </a:prstGeom>
          <a:solidFill>
            <a:srgbClr val="028090"/>
          </a:solidFill>
          <a:ln/>
        </p:spPr>
      </p:sp>
      <p:pic>
        <p:nvPicPr>
          <p:cNvPr id="11" name="Image 1" descr="/home/claude/onlineshopping/icons/wallet_FFFFFF.png">    </p:cNvPr>
          <p:cNvPicPr>
            <a:picLocks noChangeAspect="1"/>
          </p:cNvPicPr>
          <p:nvPr/>
        </p:nvPicPr>
        <p:blipFill>
          <a:blip r:embed="rId2"/>
          <a:stretch>
            <a:fillRect/>
          </a:stretch>
        </p:blipFill>
        <p:spPr>
          <a:xfrm>
            <a:off x="4631893" y="1842973"/>
            <a:ext cx="291694" cy="291694"/>
          </a:xfrm>
          <a:prstGeom prst="rect">
            <a:avLst/>
          </a:prstGeom>
        </p:spPr>
      </p:pic>
      <p:sp>
        <p:nvSpPr>
          <p:cNvPr id="12" name="Text 8"/>
          <p:cNvSpPr/>
          <p:nvPr/>
        </p:nvSpPr>
        <p:spPr>
          <a:xfrm>
            <a:off x="4526280" y="2377440"/>
            <a:ext cx="3063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Digital Wallets</a:t>
            </a:r>
            <a:endParaRPr lang="en-US" sz="1350" dirty="0"/>
          </a:p>
        </p:txBody>
      </p:sp>
      <p:sp>
        <p:nvSpPr>
          <p:cNvPr id="13" name="Text 9"/>
          <p:cNvSpPr/>
          <p:nvPr/>
        </p:nvSpPr>
        <p:spPr>
          <a:xfrm>
            <a:off x="4526280" y="271576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5C7378"/>
                </a:solidFill>
                <a:latin typeface="Calibri" pitchFamily="34" charset="0"/>
                <a:ea typeface="Calibri" pitchFamily="34" charset="-122"/>
                <a:cs typeface="Calibri" pitchFamily="34" charset="-120"/>
              </a:rPr>
              <a:t>PayPal, Apple Pay, Google Pay — fast, saved-card checkout.</a:t>
            </a:r>
            <a:endParaRPr lang="en-US" sz="1100" dirty="0"/>
          </a:p>
        </p:txBody>
      </p:sp>
      <p:sp>
        <p:nvSpPr>
          <p:cNvPr id="14" name="Shape 10"/>
          <p:cNvSpPr/>
          <p:nvPr/>
        </p:nvSpPr>
        <p:spPr>
          <a:xfrm>
            <a:off x="8046720" y="1508760"/>
            <a:ext cx="3520440" cy="1965960"/>
          </a:xfrm>
          <a:prstGeom prst="roundRect">
            <a:avLst>
              <a:gd name="adj" fmla="val 4651"/>
            </a:avLst>
          </a:prstGeom>
          <a:solidFill>
            <a:srgbClr val="F2F7F6"/>
          </a:solidFill>
          <a:ln/>
        </p:spPr>
      </p:sp>
      <p:sp>
        <p:nvSpPr>
          <p:cNvPr id="15" name="Shape 11"/>
          <p:cNvSpPr/>
          <p:nvPr/>
        </p:nvSpPr>
        <p:spPr>
          <a:xfrm>
            <a:off x="8275320" y="1737360"/>
            <a:ext cx="502920" cy="502920"/>
          </a:xfrm>
          <a:prstGeom prst="ellipse">
            <a:avLst/>
          </a:prstGeom>
          <a:solidFill>
            <a:srgbClr val="028090"/>
          </a:solidFill>
          <a:ln/>
        </p:spPr>
      </p:sp>
      <p:pic>
        <p:nvPicPr>
          <p:cNvPr id="16" name="Image 2" descr="/home/claude/onlineshopping/icons/qr_FFFFFF.png">    </p:cNvPr>
          <p:cNvPicPr>
            <a:picLocks noChangeAspect="1"/>
          </p:cNvPicPr>
          <p:nvPr/>
        </p:nvPicPr>
        <p:blipFill>
          <a:blip r:embed="rId3"/>
          <a:stretch>
            <a:fillRect/>
          </a:stretch>
        </p:blipFill>
        <p:spPr>
          <a:xfrm>
            <a:off x="8380933" y="1842973"/>
            <a:ext cx="291694" cy="291694"/>
          </a:xfrm>
          <a:prstGeom prst="rect">
            <a:avLst/>
          </a:prstGeom>
        </p:spPr>
      </p:pic>
      <p:sp>
        <p:nvSpPr>
          <p:cNvPr id="17" name="Text 12"/>
          <p:cNvSpPr/>
          <p:nvPr/>
        </p:nvSpPr>
        <p:spPr>
          <a:xfrm>
            <a:off x="8275320" y="2377440"/>
            <a:ext cx="3063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UPI &amp; QR Payments</a:t>
            </a:r>
            <a:endParaRPr lang="en-US" sz="1350" dirty="0"/>
          </a:p>
        </p:txBody>
      </p:sp>
      <p:sp>
        <p:nvSpPr>
          <p:cNvPr id="18" name="Text 13"/>
          <p:cNvSpPr/>
          <p:nvPr/>
        </p:nvSpPr>
        <p:spPr>
          <a:xfrm>
            <a:off x="8275320" y="271576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5C7378"/>
                </a:solidFill>
                <a:latin typeface="Calibri" pitchFamily="34" charset="0"/>
                <a:ea typeface="Calibri" pitchFamily="34" charset="-122"/>
                <a:cs typeface="Calibri" pitchFamily="34" charset="-120"/>
              </a:rPr>
              <a:t>Instant bank-to-bank transfer via apps, popular across Asia.</a:t>
            </a:r>
            <a:endParaRPr lang="en-US" sz="1100" dirty="0"/>
          </a:p>
        </p:txBody>
      </p:sp>
      <p:sp>
        <p:nvSpPr>
          <p:cNvPr id="19" name="Shape 14"/>
          <p:cNvSpPr/>
          <p:nvPr/>
        </p:nvSpPr>
        <p:spPr>
          <a:xfrm>
            <a:off x="548640" y="3703320"/>
            <a:ext cx="3520440" cy="1965960"/>
          </a:xfrm>
          <a:prstGeom prst="roundRect">
            <a:avLst>
              <a:gd name="adj" fmla="val 4651"/>
            </a:avLst>
          </a:prstGeom>
          <a:solidFill>
            <a:srgbClr val="F2F7F6"/>
          </a:solidFill>
          <a:ln/>
        </p:spPr>
      </p:sp>
      <p:sp>
        <p:nvSpPr>
          <p:cNvPr id="20" name="Shape 15"/>
          <p:cNvSpPr/>
          <p:nvPr/>
        </p:nvSpPr>
        <p:spPr>
          <a:xfrm>
            <a:off x="777240" y="3931920"/>
            <a:ext cx="502920" cy="502920"/>
          </a:xfrm>
          <a:prstGeom prst="ellipse">
            <a:avLst/>
          </a:prstGeom>
          <a:solidFill>
            <a:srgbClr val="028090"/>
          </a:solidFill>
          <a:ln/>
        </p:spPr>
      </p:sp>
      <p:pic>
        <p:nvPicPr>
          <p:cNvPr id="21" name="Image 3" descr="/home/claude/onlineshopping/icons/package_FFFFFF.png">    </p:cNvPr>
          <p:cNvPicPr>
            <a:picLocks noChangeAspect="1"/>
          </p:cNvPicPr>
          <p:nvPr/>
        </p:nvPicPr>
        <p:blipFill>
          <a:blip r:embed="rId4"/>
          <a:stretch>
            <a:fillRect/>
          </a:stretch>
        </p:blipFill>
        <p:spPr>
          <a:xfrm>
            <a:off x="882853" y="4037533"/>
            <a:ext cx="291694" cy="291694"/>
          </a:xfrm>
          <a:prstGeom prst="rect">
            <a:avLst/>
          </a:prstGeom>
        </p:spPr>
      </p:pic>
      <p:sp>
        <p:nvSpPr>
          <p:cNvPr id="22" name="Text 16"/>
          <p:cNvSpPr/>
          <p:nvPr/>
        </p:nvSpPr>
        <p:spPr>
          <a:xfrm>
            <a:off x="777240" y="4572000"/>
            <a:ext cx="3063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Cash on Delivery</a:t>
            </a:r>
            <a:endParaRPr lang="en-US" sz="1350" dirty="0"/>
          </a:p>
        </p:txBody>
      </p:sp>
      <p:sp>
        <p:nvSpPr>
          <p:cNvPr id="23" name="Text 17"/>
          <p:cNvSpPr/>
          <p:nvPr/>
        </p:nvSpPr>
        <p:spPr>
          <a:xfrm>
            <a:off x="777240" y="491032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5C7378"/>
                </a:solidFill>
                <a:latin typeface="Calibri" pitchFamily="34" charset="0"/>
                <a:ea typeface="Calibri" pitchFamily="34" charset="-122"/>
                <a:cs typeface="Calibri" pitchFamily="34" charset="-120"/>
              </a:rPr>
              <a:t>Pay in cash when the item arrives — common in many markets.</a:t>
            </a:r>
            <a:endParaRPr lang="en-US" sz="1100" dirty="0"/>
          </a:p>
        </p:txBody>
      </p:sp>
      <p:sp>
        <p:nvSpPr>
          <p:cNvPr id="24" name="Shape 18"/>
          <p:cNvSpPr/>
          <p:nvPr/>
        </p:nvSpPr>
        <p:spPr>
          <a:xfrm>
            <a:off x="4297680" y="3703320"/>
            <a:ext cx="3520440" cy="1965960"/>
          </a:xfrm>
          <a:prstGeom prst="roundRect">
            <a:avLst>
              <a:gd name="adj" fmla="val 4651"/>
            </a:avLst>
          </a:prstGeom>
          <a:solidFill>
            <a:srgbClr val="F2F7F6"/>
          </a:solidFill>
          <a:ln/>
        </p:spPr>
      </p:sp>
      <p:sp>
        <p:nvSpPr>
          <p:cNvPr id="25" name="Shape 19"/>
          <p:cNvSpPr/>
          <p:nvPr/>
        </p:nvSpPr>
        <p:spPr>
          <a:xfrm>
            <a:off x="4526280" y="3931920"/>
            <a:ext cx="502920" cy="502920"/>
          </a:xfrm>
          <a:prstGeom prst="ellipse">
            <a:avLst/>
          </a:prstGeom>
          <a:solidFill>
            <a:srgbClr val="028090"/>
          </a:solidFill>
          <a:ln/>
        </p:spPr>
      </p:sp>
      <p:pic>
        <p:nvPicPr>
          <p:cNvPr id="26" name="Image 4" descr="/home/claude/onlineshopping/icons/clock_FFFFFF.png">    </p:cNvPr>
          <p:cNvPicPr>
            <a:picLocks noChangeAspect="1"/>
          </p:cNvPicPr>
          <p:nvPr/>
        </p:nvPicPr>
        <p:blipFill>
          <a:blip r:embed="rId5"/>
          <a:stretch>
            <a:fillRect/>
          </a:stretch>
        </p:blipFill>
        <p:spPr>
          <a:xfrm>
            <a:off x="4631893" y="4037533"/>
            <a:ext cx="291694" cy="291694"/>
          </a:xfrm>
          <a:prstGeom prst="rect">
            <a:avLst/>
          </a:prstGeom>
        </p:spPr>
      </p:pic>
      <p:sp>
        <p:nvSpPr>
          <p:cNvPr id="27" name="Text 20"/>
          <p:cNvSpPr/>
          <p:nvPr/>
        </p:nvSpPr>
        <p:spPr>
          <a:xfrm>
            <a:off x="4526280" y="4572000"/>
            <a:ext cx="3063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Buy Now, Pay Later</a:t>
            </a:r>
            <a:endParaRPr lang="en-US" sz="1350" dirty="0"/>
          </a:p>
        </p:txBody>
      </p:sp>
      <p:sp>
        <p:nvSpPr>
          <p:cNvPr id="28" name="Text 21"/>
          <p:cNvSpPr/>
          <p:nvPr/>
        </p:nvSpPr>
        <p:spPr>
          <a:xfrm>
            <a:off x="4526280" y="491032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5C7378"/>
                </a:solidFill>
                <a:latin typeface="Calibri" pitchFamily="34" charset="0"/>
                <a:ea typeface="Calibri" pitchFamily="34" charset="-122"/>
                <a:cs typeface="Calibri" pitchFamily="34" charset="-120"/>
              </a:rPr>
              <a:t>Split payment into installments via services like Klarna, Afterpay.</a:t>
            </a:r>
            <a:endParaRPr lang="en-US" sz="1100" dirty="0"/>
          </a:p>
        </p:txBody>
      </p:sp>
      <p:sp>
        <p:nvSpPr>
          <p:cNvPr id="29" name="Shape 22"/>
          <p:cNvSpPr/>
          <p:nvPr/>
        </p:nvSpPr>
        <p:spPr>
          <a:xfrm>
            <a:off x="8046720" y="3703320"/>
            <a:ext cx="3520440" cy="1965960"/>
          </a:xfrm>
          <a:prstGeom prst="roundRect">
            <a:avLst>
              <a:gd name="adj" fmla="val 4651"/>
            </a:avLst>
          </a:prstGeom>
          <a:solidFill>
            <a:srgbClr val="F2F7F6"/>
          </a:solidFill>
          <a:ln/>
        </p:spPr>
      </p:sp>
      <p:sp>
        <p:nvSpPr>
          <p:cNvPr id="30" name="Shape 23"/>
          <p:cNvSpPr/>
          <p:nvPr/>
        </p:nvSpPr>
        <p:spPr>
          <a:xfrm>
            <a:off x="8275320" y="3931920"/>
            <a:ext cx="502920" cy="502920"/>
          </a:xfrm>
          <a:prstGeom prst="ellipse">
            <a:avLst/>
          </a:prstGeom>
          <a:solidFill>
            <a:srgbClr val="028090"/>
          </a:solidFill>
          <a:ln/>
        </p:spPr>
      </p:sp>
      <p:pic>
        <p:nvPicPr>
          <p:cNvPr id="31" name="Image 5" descr="/home/claude/onlineshopping/icons/globe_FFFFFF.png">    </p:cNvPr>
          <p:cNvPicPr>
            <a:picLocks noChangeAspect="1"/>
          </p:cNvPicPr>
          <p:nvPr/>
        </p:nvPicPr>
        <p:blipFill>
          <a:blip r:embed="rId6"/>
          <a:stretch>
            <a:fillRect/>
          </a:stretch>
        </p:blipFill>
        <p:spPr>
          <a:xfrm>
            <a:off x="8380933" y="4037533"/>
            <a:ext cx="291694" cy="291694"/>
          </a:xfrm>
          <a:prstGeom prst="rect">
            <a:avLst/>
          </a:prstGeom>
        </p:spPr>
      </p:pic>
      <p:sp>
        <p:nvSpPr>
          <p:cNvPr id="32" name="Text 24"/>
          <p:cNvSpPr/>
          <p:nvPr/>
        </p:nvSpPr>
        <p:spPr>
          <a:xfrm>
            <a:off x="8275320" y="4572000"/>
            <a:ext cx="3063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Bank Transfers</a:t>
            </a:r>
            <a:endParaRPr lang="en-US" sz="1350" dirty="0"/>
          </a:p>
        </p:txBody>
      </p:sp>
      <p:sp>
        <p:nvSpPr>
          <p:cNvPr id="33" name="Text 25"/>
          <p:cNvSpPr/>
          <p:nvPr/>
        </p:nvSpPr>
        <p:spPr>
          <a:xfrm>
            <a:off x="8275320" y="4910328"/>
            <a:ext cx="3063240" cy="640080"/>
          </a:xfrm>
          <a:prstGeom prst="rect">
            <a:avLst/>
          </a:prstGeom>
          <a:noFill/>
          <a:ln/>
        </p:spPr>
        <p:txBody>
          <a:bodyPr wrap="square" lIns="0" tIns="0" rIns="0" bIns="0" rtlCol="0" anchor="ctr"/>
          <a:lstStyle/>
          <a:p>
            <a:pPr indent="0" marL="0">
              <a:lnSpc>
                <a:spcPct val="115000"/>
              </a:lnSpc>
              <a:buNone/>
            </a:pPr>
            <a:r>
              <a:rPr lang="en-US" sz="1100" dirty="0">
                <a:solidFill>
                  <a:srgbClr val="5C7378"/>
                </a:solidFill>
                <a:latin typeface="Calibri" pitchFamily="34" charset="0"/>
                <a:ea typeface="Calibri" pitchFamily="34" charset="-122"/>
                <a:cs typeface="Calibri" pitchFamily="34" charset="-120"/>
              </a:rPr>
              <a:t>Direct transfer for larger purchases or B2B transactions.</a:t>
            </a:r>
            <a:endParaRPr lang="en-US" sz="1100" dirty="0"/>
          </a:p>
        </p:txBody>
      </p:sp>
      <p:sp>
        <p:nvSpPr>
          <p:cNvPr id="34" name="Text 26"/>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35" name="Text 27"/>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7</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68"/>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36"/>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04"/>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72"/>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4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08"/>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76"/>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44"/>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12"/>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68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48"/>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16"/>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884"/>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52"/>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2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088"/>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56"/>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24"/>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292"/>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36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28"/>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8" presetID="10" presetClass="entr" presetSubtype="0" fill="hold" grpId="0">
                      <p:stCondLst>
                        <p:cond delay="1496"/>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81" presetID="10" presetClass="entr" presetSubtype="0" fill="hold" grpId="0">
                      <p:stCondLst>
                        <p:cond delay="1564"/>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4" presetID="10" presetClass="entr" presetSubtype="0" fill="hold" grpId="0">
                      <p:stCondLst>
                        <p:cond delay="1632"/>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7" presetID="10" presetClass="entr" presetSubtype="0" fill="hold" grpId="0">
                      <p:stCondLst>
                        <p:cond delay="170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90" presetID="10" presetClass="entr" presetSubtype="0" fill="hold" grpId="0">
                      <p:stCondLst>
                        <p:cond delay="1768"/>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3" presetID="10" presetClass="entr" presetSubtype="0" fill="hold" grpId="0">
                      <p:stCondLst>
                        <p:cond delay="1836"/>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6" presetID="10" presetClass="entr" presetSubtype="0" fill="hold" grpId="0">
                      <p:stCondLst>
                        <p:cond delay="1904"/>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par>
                    <p:cTn id="99" presetID="10" presetClass="entr" presetSubtype="0" fill="hold" grpId="0">
                      <p:stCondLst>
                        <p:cond delay="1972"/>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50"/>
                            <p:tgtEl>
                              <p:spTgt spid="31"/>
                            </p:tgtEl>
                          </p:cBhvr>
                        </p:animEffect>
                      </p:childTnLst>
                    </p:cTn>
                  </p:par>
                  <p:par>
                    <p:cTn id="102" presetID="10" presetClass="entr" presetSubtype="0" fill="hold" grpId="0">
                      <p:stCondLst>
                        <p:cond delay="204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par>
                    <p:cTn id="105" presetID="10" presetClass="entr" presetSubtype="0" fill="hold" grpId="0">
                      <p:stCondLst>
                        <p:cond delay="2108"/>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350"/>
                            <p:tgtEl>
                              <p:spTgt spid="33"/>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Safety Tips for Online Shoppers</a:t>
            </a:r>
            <a:endParaRPr lang="en-US" sz="3200" dirty="0"/>
          </a:p>
        </p:txBody>
      </p:sp>
      <p:sp>
        <p:nvSpPr>
          <p:cNvPr id="3" name="Shape 1"/>
          <p:cNvSpPr/>
          <p:nvPr/>
        </p:nvSpPr>
        <p:spPr>
          <a:xfrm>
            <a:off x="548640" y="1371600"/>
            <a:ext cx="5257800" cy="1417320"/>
          </a:xfrm>
          <a:prstGeom prst="roundRect">
            <a:avLst>
              <a:gd name="adj" fmla="val 6452"/>
            </a:avLst>
          </a:prstGeom>
          <a:solidFill>
            <a:srgbClr val="FFFFFF"/>
          </a:solidFill>
          <a:ln w="12700">
            <a:solidFill>
              <a:srgbClr val="DCE7E6"/>
            </a:solidFill>
            <a:prstDash val="solid"/>
          </a:ln>
        </p:spPr>
      </p:sp>
      <p:sp>
        <p:nvSpPr>
          <p:cNvPr id="4" name="Shape 2"/>
          <p:cNvSpPr/>
          <p:nvPr/>
        </p:nvSpPr>
        <p:spPr>
          <a:xfrm>
            <a:off x="749808" y="1636776"/>
            <a:ext cx="502920" cy="502920"/>
          </a:xfrm>
          <a:prstGeom prst="ellipse">
            <a:avLst/>
          </a:prstGeom>
          <a:solidFill>
            <a:srgbClr val="00A896"/>
          </a:solidFill>
          <a:ln/>
        </p:spPr>
      </p:sp>
      <p:pic>
        <p:nvPicPr>
          <p:cNvPr id="5" name="Image 0" descr="/home/claude/onlineshopping/icons/lock_FFFFFF.png">    </p:cNvPr>
          <p:cNvPicPr>
            <a:picLocks noChangeAspect="1"/>
          </p:cNvPicPr>
          <p:nvPr/>
        </p:nvPicPr>
        <p:blipFill>
          <a:blip r:embed="rId1"/>
          <a:stretch>
            <a:fillRect/>
          </a:stretch>
        </p:blipFill>
        <p:spPr>
          <a:xfrm>
            <a:off x="855421" y="1742389"/>
            <a:ext cx="291694" cy="291694"/>
          </a:xfrm>
          <a:prstGeom prst="rect">
            <a:avLst/>
          </a:prstGeom>
        </p:spPr>
      </p:pic>
      <p:sp>
        <p:nvSpPr>
          <p:cNvPr id="6" name="Text 3"/>
          <p:cNvSpPr/>
          <p:nvPr/>
        </p:nvSpPr>
        <p:spPr>
          <a:xfrm>
            <a:off x="1417320" y="1554480"/>
            <a:ext cx="4206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Look for HTTPS</a:t>
            </a:r>
            <a:endParaRPr lang="en-US" sz="1350" dirty="0"/>
          </a:p>
        </p:txBody>
      </p:sp>
      <p:sp>
        <p:nvSpPr>
          <p:cNvPr id="7" name="Text 4"/>
          <p:cNvSpPr/>
          <p:nvPr/>
        </p:nvSpPr>
        <p:spPr>
          <a:xfrm>
            <a:off x="1417320" y="1901952"/>
            <a:ext cx="4206240" cy="77724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Check for the padlock icon and "https://" before entering payment details.</a:t>
            </a:r>
            <a:endParaRPr lang="en-US" sz="1150" dirty="0"/>
          </a:p>
        </p:txBody>
      </p:sp>
      <p:sp>
        <p:nvSpPr>
          <p:cNvPr id="8" name="Shape 5"/>
          <p:cNvSpPr/>
          <p:nvPr/>
        </p:nvSpPr>
        <p:spPr>
          <a:xfrm>
            <a:off x="6080760" y="1371600"/>
            <a:ext cx="5257800" cy="1417320"/>
          </a:xfrm>
          <a:prstGeom prst="roundRect">
            <a:avLst>
              <a:gd name="adj" fmla="val 6452"/>
            </a:avLst>
          </a:prstGeom>
          <a:solidFill>
            <a:srgbClr val="FFFFFF"/>
          </a:solidFill>
          <a:ln w="12700">
            <a:solidFill>
              <a:srgbClr val="DCE7E6"/>
            </a:solidFill>
            <a:prstDash val="solid"/>
          </a:ln>
        </p:spPr>
      </p:sp>
      <p:sp>
        <p:nvSpPr>
          <p:cNvPr id="9" name="Shape 6"/>
          <p:cNvSpPr/>
          <p:nvPr/>
        </p:nvSpPr>
        <p:spPr>
          <a:xfrm>
            <a:off x="6281928" y="1636776"/>
            <a:ext cx="502920" cy="502920"/>
          </a:xfrm>
          <a:prstGeom prst="ellipse">
            <a:avLst/>
          </a:prstGeom>
          <a:solidFill>
            <a:srgbClr val="00A896"/>
          </a:solidFill>
          <a:ln/>
        </p:spPr>
      </p:sp>
      <p:pic>
        <p:nvPicPr>
          <p:cNvPr id="10" name="Image 1" descr="/home/claude/onlineshopping/icons/shield_FFFFFF.png">    </p:cNvPr>
          <p:cNvPicPr>
            <a:picLocks noChangeAspect="1"/>
          </p:cNvPicPr>
          <p:nvPr/>
        </p:nvPicPr>
        <p:blipFill>
          <a:blip r:embed="rId2"/>
          <a:stretch>
            <a:fillRect/>
          </a:stretch>
        </p:blipFill>
        <p:spPr>
          <a:xfrm>
            <a:off x="6387541" y="1742389"/>
            <a:ext cx="291694" cy="291694"/>
          </a:xfrm>
          <a:prstGeom prst="rect">
            <a:avLst/>
          </a:prstGeom>
        </p:spPr>
      </p:pic>
      <p:sp>
        <p:nvSpPr>
          <p:cNvPr id="11" name="Text 7"/>
          <p:cNvSpPr/>
          <p:nvPr/>
        </p:nvSpPr>
        <p:spPr>
          <a:xfrm>
            <a:off x="6949440" y="1554480"/>
            <a:ext cx="4206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Shop trusted sites</a:t>
            </a:r>
            <a:endParaRPr lang="en-US" sz="1350" dirty="0"/>
          </a:p>
        </p:txBody>
      </p:sp>
      <p:sp>
        <p:nvSpPr>
          <p:cNvPr id="12" name="Text 8"/>
          <p:cNvSpPr/>
          <p:nvPr/>
        </p:nvSpPr>
        <p:spPr>
          <a:xfrm>
            <a:off x="6949440" y="1901952"/>
            <a:ext cx="4206240" cy="77724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Stick to well-known retailers or verified marketplace sellers.</a:t>
            </a:r>
            <a:endParaRPr lang="en-US" sz="1150" dirty="0"/>
          </a:p>
        </p:txBody>
      </p:sp>
      <p:sp>
        <p:nvSpPr>
          <p:cNvPr id="13" name="Shape 9"/>
          <p:cNvSpPr/>
          <p:nvPr/>
        </p:nvSpPr>
        <p:spPr>
          <a:xfrm>
            <a:off x="548640" y="2990088"/>
            <a:ext cx="5257800" cy="1417320"/>
          </a:xfrm>
          <a:prstGeom prst="roundRect">
            <a:avLst>
              <a:gd name="adj" fmla="val 6452"/>
            </a:avLst>
          </a:prstGeom>
          <a:solidFill>
            <a:srgbClr val="FFFFFF"/>
          </a:solidFill>
          <a:ln w="12700">
            <a:solidFill>
              <a:srgbClr val="DCE7E6"/>
            </a:solidFill>
            <a:prstDash val="solid"/>
          </a:ln>
        </p:spPr>
      </p:sp>
      <p:sp>
        <p:nvSpPr>
          <p:cNvPr id="14" name="Shape 10"/>
          <p:cNvSpPr/>
          <p:nvPr/>
        </p:nvSpPr>
        <p:spPr>
          <a:xfrm>
            <a:off x="749808" y="3255264"/>
            <a:ext cx="502920" cy="502920"/>
          </a:xfrm>
          <a:prstGeom prst="ellipse">
            <a:avLst/>
          </a:prstGeom>
          <a:solidFill>
            <a:srgbClr val="00A896"/>
          </a:solidFill>
          <a:ln/>
        </p:spPr>
      </p:sp>
      <p:pic>
        <p:nvPicPr>
          <p:cNvPr id="15" name="Image 2" descr="/home/claude/onlineshopping/icons/wallet_FFFFFF.png">    </p:cNvPr>
          <p:cNvPicPr>
            <a:picLocks noChangeAspect="1"/>
          </p:cNvPicPr>
          <p:nvPr/>
        </p:nvPicPr>
        <p:blipFill>
          <a:blip r:embed="rId3"/>
          <a:stretch>
            <a:fillRect/>
          </a:stretch>
        </p:blipFill>
        <p:spPr>
          <a:xfrm>
            <a:off x="855421" y="3360877"/>
            <a:ext cx="291694" cy="291694"/>
          </a:xfrm>
          <a:prstGeom prst="rect">
            <a:avLst/>
          </a:prstGeom>
        </p:spPr>
      </p:pic>
      <p:sp>
        <p:nvSpPr>
          <p:cNvPr id="16" name="Text 11"/>
          <p:cNvSpPr/>
          <p:nvPr/>
        </p:nvSpPr>
        <p:spPr>
          <a:xfrm>
            <a:off x="1417320" y="3172968"/>
            <a:ext cx="4206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Use secure payments</a:t>
            </a:r>
            <a:endParaRPr lang="en-US" sz="1350" dirty="0"/>
          </a:p>
        </p:txBody>
      </p:sp>
      <p:sp>
        <p:nvSpPr>
          <p:cNvPr id="17" name="Text 12"/>
          <p:cNvSpPr/>
          <p:nvPr/>
        </p:nvSpPr>
        <p:spPr>
          <a:xfrm>
            <a:off x="1417320" y="3520440"/>
            <a:ext cx="4206240" cy="77724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Prefer cards or wallets with buyer protection over direct transfers.</a:t>
            </a:r>
            <a:endParaRPr lang="en-US" sz="1150" dirty="0"/>
          </a:p>
        </p:txBody>
      </p:sp>
      <p:sp>
        <p:nvSpPr>
          <p:cNvPr id="18" name="Shape 13"/>
          <p:cNvSpPr/>
          <p:nvPr/>
        </p:nvSpPr>
        <p:spPr>
          <a:xfrm>
            <a:off x="6080760" y="2990088"/>
            <a:ext cx="5257800" cy="1417320"/>
          </a:xfrm>
          <a:prstGeom prst="roundRect">
            <a:avLst>
              <a:gd name="adj" fmla="val 6452"/>
            </a:avLst>
          </a:prstGeom>
          <a:solidFill>
            <a:srgbClr val="FFFFFF"/>
          </a:solidFill>
          <a:ln w="12700">
            <a:solidFill>
              <a:srgbClr val="DCE7E6"/>
            </a:solidFill>
            <a:prstDash val="solid"/>
          </a:ln>
        </p:spPr>
      </p:sp>
      <p:sp>
        <p:nvSpPr>
          <p:cNvPr id="19" name="Shape 14"/>
          <p:cNvSpPr/>
          <p:nvPr/>
        </p:nvSpPr>
        <p:spPr>
          <a:xfrm>
            <a:off x="6281928" y="3255264"/>
            <a:ext cx="502920" cy="502920"/>
          </a:xfrm>
          <a:prstGeom prst="ellipse">
            <a:avLst/>
          </a:prstGeom>
          <a:solidFill>
            <a:srgbClr val="00A896"/>
          </a:solidFill>
          <a:ln/>
        </p:spPr>
      </p:sp>
      <p:pic>
        <p:nvPicPr>
          <p:cNvPr id="20" name="Image 3" descr="/home/claude/onlineshopping/icons/eye_FFFFFF.png">    </p:cNvPr>
          <p:cNvPicPr>
            <a:picLocks noChangeAspect="1"/>
          </p:cNvPicPr>
          <p:nvPr/>
        </p:nvPicPr>
        <p:blipFill>
          <a:blip r:embed="rId4"/>
          <a:stretch>
            <a:fillRect/>
          </a:stretch>
        </p:blipFill>
        <p:spPr>
          <a:xfrm>
            <a:off x="6387541" y="3360877"/>
            <a:ext cx="291694" cy="291694"/>
          </a:xfrm>
          <a:prstGeom prst="rect">
            <a:avLst/>
          </a:prstGeom>
        </p:spPr>
      </p:pic>
      <p:sp>
        <p:nvSpPr>
          <p:cNvPr id="21" name="Text 15"/>
          <p:cNvSpPr/>
          <p:nvPr/>
        </p:nvSpPr>
        <p:spPr>
          <a:xfrm>
            <a:off x="6949440" y="3172968"/>
            <a:ext cx="4206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Check reviews</a:t>
            </a:r>
            <a:endParaRPr lang="en-US" sz="1350" dirty="0"/>
          </a:p>
        </p:txBody>
      </p:sp>
      <p:sp>
        <p:nvSpPr>
          <p:cNvPr id="22" name="Text 16"/>
          <p:cNvSpPr/>
          <p:nvPr/>
        </p:nvSpPr>
        <p:spPr>
          <a:xfrm>
            <a:off x="6949440" y="3520440"/>
            <a:ext cx="4206240" cy="77724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Read seller ratings and recent reviews before purchasing.</a:t>
            </a:r>
            <a:endParaRPr lang="en-US" sz="1150" dirty="0"/>
          </a:p>
        </p:txBody>
      </p:sp>
      <p:sp>
        <p:nvSpPr>
          <p:cNvPr id="23" name="Shape 17"/>
          <p:cNvSpPr/>
          <p:nvPr/>
        </p:nvSpPr>
        <p:spPr>
          <a:xfrm>
            <a:off x="548640" y="4608576"/>
            <a:ext cx="5257800" cy="1417320"/>
          </a:xfrm>
          <a:prstGeom prst="roundRect">
            <a:avLst>
              <a:gd name="adj" fmla="val 6452"/>
            </a:avLst>
          </a:prstGeom>
          <a:solidFill>
            <a:srgbClr val="FFFFFF"/>
          </a:solidFill>
          <a:ln w="12700">
            <a:solidFill>
              <a:srgbClr val="DCE7E6"/>
            </a:solidFill>
            <a:prstDash val="solid"/>
          </a:ln>
        </p:spPr>
      </p:sp>
      <p:sp>
        <p:nvSpPr>
          <p:cNvPr id="24" name="Shape 18"/>
          <p:cNvSpPr/>
          <p:nvPr/>
        </p:nvSpPr>
        <p:spPr>
          <a:xfrm>
            <a:off x="749808" y="4873752"/>
            <a:ext cx="502920" cy="502920"/>
          </a:xfrm>
          <a:prstGeom prst="ellipse">
            <a:avLst/>
          </a:prstGeom>
          <a:solidFill>
            <a:srgbClr val="00A896"/>
          </a:solidFill>
          <a:ln/>
        </p:spPr>
      </p:sp>
      <p:pic>
        <p:nvPicPr>
          <p:cNvPr id="25" name="Image 4" descr="/home/claude/onlineshopping/icons/alert_FFFFFF.png">    </p:cNvPr>
          <p:cNvPicPr>
            <a:picLocks noChangeAspect="1"/>
          </p:cNvPicPr>
          <p:nvPr/>
        </p:nvPicPr>
        <p:blipFill>
          <a:blip r:embed="rId5"/>
          <a:stretch>
            <a:fillRect/>
          </a:stretch>
        </p:blipFill>
        <p:spPr>
          <a:xfrm>
            <a:off x="855421" y="4979365"/>
            <a:ext cx="291694" cy="291694"/>
          </a:xfrm>
          <a:prstGeom prst="rect">
            <a:avLst/>
          </a:prstGeom>
        </p:spPr>
      </p:pic>
      <p:sp>
        <p:nvSpPr>
          <p:cNvPr id="26" name="Text 19"/>
          <p:cNvSpPr/>
          <p:nvPr/>
        </p:nvSpPr>
        <p:spPr>
          <a:xfrm>
            <a:off x="1417320" y="4791456"/>
            <a:ext cx="4206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Avoid suspicious links</a:t>
            </a:r>
            <a:endParaRPr lang="en-US" sz="1350" dirty="0"/>
          </a:p>
        </p:txBody>
      </p:sp>
      <p:sp>
        <p:nvSpPr>
          <p:cNvPr id="27" name="Text 20"/>
          <p:cNvSpPr/>
          <p:nvPr/>
        </p:nvSpPr>
        <p:spPr>
          <a:xfrm>
            <a:off x="1417320" y="5138928"/>
            <a:ext cx="4206240" cy="77724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Don't click deals from unsolicited emails, texts, or ads.</a:t>
            </a:r>
            <a:endParaRPr lang="en-US" sz="1150" dirty="0"/>
          </a:p>
        </p:txBody>
      </p:sp>
      <p:sp>
        <p:nvSpPr>
          <p:cNvPr id="28" name="Shape 21"/>
          <p:cNvSpPr/>
          <p:nvPr/>
        </p:nvSpPr>
        <p:spPr>
          <a:xfrm>
            <a:off x="6080760" y="4608576"/>
            <a:ext cx="5257800" cy="1417320"/>
          </a:xfrm>
          <a:prstGeom prst="roundRect">
            <a:avLst>
              <a:gd name="adj" fmla="val 6452"/>
            </a:avLst>
          </a:prstGeom>
          <a:solidFill>
            <a:srgbClr val="FFFFFF"/>
          </a:solidFill>
          <a:ln w="12700">
            <a:solidFill>
              <a:srgbClr val="DCE7E6"/>
            </a:solidFill>
            <a:prstDash val="solid"/>
          </a:ln>
        </p:spPr>
      </p:sp>
      <p:sp>
        <p:nvSpPr>
          <p:cNvPr id="29" name="Shape 22"/>
          <p:cNvSpPr/>
          <p:nvPr/>
        </p:nvSpPr>
        <p:spPr>
          <a:xfrm>
            <a:off x="6281928" y="4873752"/>
            <a:ext cx="502920" cy="502920"/>
          </a:xfrm>
          <a:prstGeom prst="ellipse">
            <a:avLst/>
          </a:prstGeom>
          <a:solidFill>
            <a:srgbClr val="00A896"/>
          </a:solidFill>
          <a:ln/>
        </p:spPr>
      </p:sp>
      <p:pic>
        <p:nvPicPr>
          <p:cNvPr id="30" name="Image 5" descr="/home/claude/onlineshopping/icons/wifi_FFFFFF.png">    </p:cNvPr>
          <p:cNvPicPr>
            <a:picLocks noChangeAspect="1"/>
          </p:cNvPicPr>
          <p:nvPr/>
        </p:nvPicPr>
        <p:blipFill>
          <a:blip r:embed="rId6"/>
          <a:stretch>
            <a:fillRect/>
          </a:stretch>
        </p:blipFill>
        <p:spPr>
          <a:xfrm>
            <a:off x="6387541" y="4979365"/>
            <a:ext cx="291694" cy="291694"/>
          </a:xfrm>
          <a:prstGeom prst="rect">
            <a:avLst/>
          </a:prstGeom>
        </p:spPr>
      </p:pic>
      <p:sp>
        <p:nvSpPr>
          <p:cNvPr id="31" name="Text 23"/>
          <p:cNvSpPr/>
          <p:nvPr/>
        </p:nvSpPr>
        <p:spPr>
          <a:xfrm>
            <a:off x="6949440" y="4791456"/>
            <a:ext cx="4206240" cy="320040"/>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Avoid public Wi-Fi</a:t>
            </a:r>
            <a:endParaRPr lang="en-US" sz="1350" dirty="0"/>
          </a:p>
        </p:txBody>
      </p:sp>
      <p:sp>
        <p:nvSpPr>
          <p:cNvPr id="32" name="Text 24"/>
          <p:cNvSpPr/>
          <p:nvPr/>
        </p:nvSpPr>
        <p:spPr>
          <a:xfrm>
            <a:off x="6949440" y="5138928"/>
            <a:ext cx="4206240" cy="777240"/>
          </a:xfrm>
          <a:prstGeom prst="rect">
            <a:avLst/>
          </a:prstGeom>
          <a:noFill/>
          <a:ln/>
        </p:spPr>
        <p:txBody>
          <a:bodyPr wrap="square" lIns="0" tIns="0" rIns="0" bIns="0" rtlCol="0" anchor="ctr"/>
          <a:lstStyle/>
          <a:p>
            <a:pPr indent="0" marL="0">
              <a:lnSpc>
                <a:spcPct val="115000"/>
              </a:lnSpc>
              <a:buNone/>
            </a:pPr>
            <a:r>
              <a:rPr lang="en-US" sz="1150" dirty="0">
                <a:solidFill>
                  <a:srgbClr val="5C7378"/>
                </a:solidFill>
                <a:latin typeface="Calibri" pitchFamily="34" charset="0"/>
                <a:ea typeface="Calibri" pitchFamily="34" charset="-122"/>
                <a:cs typeface="Calibri" pitchFamily="34" charset="-120"/>
              </a:rPr>
              <a:t>Skip entering card details over open, unsecured networks.</a:t>
            </a:r>
            <a:endParaRPr lang="en-US" sz="1150" dirty="0"/>
          </a:p>
        </p:txBody>
      </p:sp>
      <p:sp>
        <p:nvSpPr>
          <p:cNvPr id="33" name="Text 25"/>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34" name="Text 26"/>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8</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6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3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40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8" presetID="10" presetClass="entr" presetSubtype="0" fill="hold" grpId="0">
                      <p:stCondLst>
                        <p:cond delay="154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81" presetID="10" presetClass="entr" presetSubtype="0" fill="hold" grpId="0">
                      <p:stCondLst>
                        <p:cond delay="161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4" presetID="10" presetClass="entr" presetSubtype="0" fill="hold" grpId="0">
                      <p:stCondLst>
                        <p:cond delay="168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7" presetID="10" presetClass="entr" presetSubtype="0" fill="hold" grpId="0">
                      <p:stCondLst>
                        <p:cond delay="175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90" presetID="10" presetClass="entr" presetSubtype="0" fill="hold" grpId="0">
                      <p:stCondLst>
                        <p:cond delay="182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3" presetID="10" presetClass="entr" presetSubtype="0" fill="hold" grpId="0">
                      <p:stCondLst>
                        <p:cond delay="189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6" presetID="10" presetClass="entr" presetSubtype="0" fill="hold" grpId="0">
                      <p:stCondLst>
                        <p:cond delay="196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par>
                    <p:cTn id="99" presetID="10" presetClass="entr" presetSubtype="0" fill="hold" grpId="0">
                      <p:stCondLst>
                        <p:cond delay="203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50"/>
                            <p:tgtEl>
                              <p:spTgt spid="31"/>
                            </p:tgtEl>
                          </p:cBhvr>
                        </p:animEffect>
                      </p:childTnLst>
                    </p:cTn>
                  </p:par>
                  <p:par>
                    <p:cTn id="102" presetID="10" presetClass="entr" presetSubtype="0" fill="hold" grpId="0">
                      <p:stCondLst>
                        <p:cond delay="210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Impact on Businesses &amp; Consumers</a:t>
            </a:r>
            <a:endParaRPr lang="en-US" sz="3200" dirty="0"/>
          </a:p>
        </p:txBody>
      </p:sp>
      <p:sp>
        <p:nvSpPr>
          <p:cNvPr id="3" name="Shape 1"/>
          <p:cNvSpPr/>
          <p:nvPr/>
        </p:nvSpPr>
        <p:spPr>
          <a:xfrm>
            <a:off x="548640" y="1417320"/>
            <a:ext cx="5257800" cy="4709160"/>
          </a:xfrm>
          <a:prstGeom prst="roundRect">
            <a:avLst>
              <a:gd name="adj" fmla="val 2330"/>
            </a:avLst>
          </a:prstGeom>
          <a:solidFill>
            <a:srgbClr val="0B2E3D"/>
          </a:solidFill>
          <a:ln/>
        </p:spPr>
      </p:sp>
      <p:sp>
        <p:nvSpPr>
          <p:cNvPr id="4" name="Shape 2"/>
          <p:cNvSpPr/>
          <p:nvPr/>
        </p:nvSpPr>
        <p:spPr>
          <a:xfrm>
            <a:off x="868680" y="1691640"/>
            <a:ext cx="548640" cy="548640"/>
          </a:xfrm>
          <a:prstGeom prst="ellipse">
            <a:avLst/>
          </a:prstGeom>
          <a:solidFill>
            <a:srgbClr val="02C39A"/>
          </a:solidFill>
          <a:ln/>
        </p:spPr>
      </p:sp>
      <p:pic>
        <p:nvPicPr>
          <p:cNvPr id="5" name="Image 0" descr="/home/claude/onlineshopping/icons/trend_0B2E3D.png">    </p:cNvPr>
          <p:cNvPicPr>
            <a:picLocks noChangeAspect="1"/>
          </p:cNvPicPr>
          <p:nvPr/>
        </p:nvPicPr>
        <p:blipFill>
          <a:blip r:embed="rId1"/>
          <a:stretch>
            <a:fillRect/>
          </a:stretch>
        </p:blipFill>
        <p:spPr>
          <a:xfrm>
            <a:off x="983894" y="1806854"/>
            <a:ext cx="318211" cy="318211"/>
          </a:xfrm>
          <a:prstGeom prst="rect">
            <a:avLst/>
          </a:prstGeom>
        </p:spPr>
      </p:pic>
      <p:sp>
        <p:nvSpPr>
          <p:cNvPr id="6" name="Text 3"/>
          <p:cNvSpPr/>
          <p:nvPr/>
        </p:nvSpPr>
        <p:spPr>
          <a:xfrm>
            <a:off x="1554480" y="1737360"/>
            <a:ext cx="365760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 Businesses</a:t>
            </a:r>
            <a:endParaRPr lang="en-US" sz="1700" dirty="0"/>
          </a:p>
        </p:txBody>
      </p:sp>
      <p:sp>
        <p:nvSpPr>
          <p:cNvPr id="7" name="Shape 4"/>
          <p:cNvSpPr/>
          <p:nvPr/>
        </p:nvSpPr>
        <p:spPr>
          <a:xfrm>
            <a:off x="868680" y="2542032"/>
            <a:ext cx="82296" cy="82296"/>
          </a:xfrm>
          <a:prstGeom prst="ellipse">
            <a:avLst/>
          </a:prstGeom>
          <a:solidFill>
            <a:srgbClr val="02C39A"/>
          </a:solidFill>
          <a:ln/>
        </p:spPr>
      </p:sp>
      <p:sp>
        <p:nvSpPr>
          <p:cNvPr id="8" name="Text 5"/>
          <p:cNvSpPr/>
          <p:nvPr/>
        </p:nvSpPr>
        <p:spPr>
          <a:xfrm>
            <a:off x="1097280" y="2395728"/>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E4EEF0"/>
                </a:solidFill>
                <a:latin typeface="Calibri" pitchFamily="34" charset="0"/>
                <a:ea typeface="Calibri" pitchFamily="34" charset="-122"/>
                <a:cs typeface="Calibri" pitchFamily="34" charset="-120"/>
              </a:rPr>
              <a:t>Reach customers globally, not just locally</a:t>
            </a:r>
            <a:endParaRPr lang="en-US" sz="1250" dirty="0"/>
          </a:p>
        </p:txBody>
      </p:sp>
      <p:sp>
        <p:nvSpPr>
          <p:cNvPr id="9" name="Shape 6"/>
          <p:cNvSpPr/>
          <p:nvPr/>
        </p:nvSpPr>
        <p:spPr>
          <a:xfrm>
            <a:off x="868680" y="3200400"/>
            <a:ext cx="82296" cy="82296"/>
          </a:xfrm>
          <a:prstGeom prst="ellipse">
            <a:avLst/>
          </a:prstGeom>
          <a:solidFill>
            <a:srgbClr val="02C39A"/>
          </a:solidFill>
          <a:ln/>
        </p:spPr>
      </p:sp>
      <p:sp>
        <p:nvSpPr>
          <p:cNvPr id="10" name="Text 7"/>
          <p:cNvSpPr/>
          <p:nvPr/>
        </p:nvSpPr>
        <p:spPr>
          <a:xfrm>
            <a:off x="1097280" y="3054096"/>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E4EEF0"/>
                </a:solidFill>
                <a:latin typeface="Calibri" pitchFamily="34" charset="0"/>
                <a:ea typeface="Calibri" pitchFamily="34" charset="-122"/>
                <a:cs typeface="Calibri" pitchFamily="34" charset="-120"/>
              </a:rPr>
              <a:t>Lower overhead than running physical stores</a:t>
            </a:r>
            <a:endParaRPr lang="en-US" sz="1250" dirty="0"/>
          </a:p>
        </p:txBody>
      </p:sp>
      <p:sp>
        <p:nvSpPr>
          <p:cNvPr id="11" name="Shape 8"/>
          <p:cNvSpPr/>
          <p:nvPr/>
        </p:nvSpPr>
        <p:spPr>
          <a:xfrm>
            <a:off x="868680" y="3858768"/>
            <a:ext cx="82296" cy="82296"/>
          </a:xfrm>
          <a:prstGeom prst="ellipse">
            <a:avLst/>
          </a:prstGeom>
          <a:solidFill>
            <a:srgbClr val="02C39A"/>
          </a:solidFill>
          <a:ln/>
        </p:spPr>
      </p:sp>
      <p:sp>
        <p:nvSpPr>
          <p:cNvPr id="12" name="Text 9"/>
          <p:cNvSpPr/>
          <p:nvPr/>
        </p:nvSpPr>
        <p:spPr>
          <a:xfrm>
            <a:off x="1097280" y="3712464"/>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E4EEF0"/>
                </a:solidFill>
                <a:latin typeface="Calibri" pitchFamily="34" charset="0"/>
                <a:ea typeface="Calibri" pitchFamily="34" charset="-122"/>
                <a:cs typeface="Calibri" pitchFamily="34" charset="-120"/>
              </a:rPr>
              <a:t>Rich data on customer behavior and preferences</a:t>
            </a:r>
            <a:endParaRPr lang="en-US" sz="1250" dirty="0"/>
          </a:p>
        </p:txBody>
      </p:sp>
      <p:sp>
        <p:nvSpPr>
          <p:cNvPr id="13" name="Shape 10"/>
          <p:cNvSpPr/>
          <p:nvPr/>
        </p:nvSpPr>
        <p:spPr>
          <a:xfrm>
            <a:off x="868680" y="4517136"/>
            <a:ext cx="82296" cy="82296"/>
          </a:xfrm>
          <a:prstGeom prst="ellipse">
            <a:avLst/>
          </a:prstGeom>
          <a:solidFill>
            <a:srgbClr val="02C39A"/>
          </a:solidFill>
          <a:ln/>
        </p:spPr>
      </p:sp>
      <p:sp>
        <p:nvSpPr>
          <p:cNvPr id="14" name="Text 11"/>
          <p:cNvSpPr/>
          <p:nvPr/>
        </p:nvSpPr>
        <p:spPr>
          <a:xfrm>
            <a:off x="1097280" y="4370832"/>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E4EEF0"/>
                </a:solidFill>
                <a:latin typeface="Calibri" pitchFamily="34" charset="0"/>
                <a:ea typeface="Calibri" pitchFamily="34" charset="-122"/>
                <a:cs typeface="Calibri" pitchFamily="34" charset="-120"/>
              </a:rPr>
              <a:t>Faces rising competition and thinner margins</a:t>
            </a:r>
            <a:endParaRPr lang="en-US" sz="1250" dirty="0"/>
          </a:p>
        </p:txBody>
      </p:sp>
      <p:sp>
        <p:nvSpPr>
          <p:cNvPr id="15" name="Shape 12"/>
          <p:cNvSpPr/>
          <p:nvPr/>
        </p:nvSpPr>
        <p:spPr>
          <a:xfrm>
            <a:off x="868680" y="5175504"/>
            <a:ext cx="82296" cy="82296"/>
          </a:xfrm>
          <a:prstGeom prst="ellipse">
            <a:avLst/>
          </a:prstGeom>
          <a:solidFill>
            <a:srgbClr val="02C39A"/>
          </a:solidFill>
          <a:ln/>
        </p:spPr>
      </p:sp>
      <p:sp>
        <p:nvSpPr>
          <p:cNvPr id="16" name="Text 13"/>
          <p:cNvSpPr/>
          <p:nvPr/>
        </p:nvSpPr>
        <p:spPr>
          <a:xfrm>
            <a:off x="1097280" y="5029200"/>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E4EEF0"/>
                </a:solidFill>
                <a:latin typeface="Calibri" pitchFamily="34" charset="0"/>
                <a:ea typeface="Calibri" pitchFamily="34" charset="-122"/>
                <a:cs typeface="Calibri" pitchFamily="34" charset="-120"/>
              </a:rPr>
              <a:t>Needs strong logistics and customer support</a:t>
            </a:r>
            <a:endParaRPr lang="en-US" sz="1250" dirty="0"/>
          </a:p>
        </p:txBody>
      </p:sp>
      <p:sp>
        <p:nvSpPr>
          <p:cNvPr id="17" name="Shape 14"/>
          <p:cNvSpPr/>
          <p:nvPr/>
        </p:nvSpPr>
        <p:spPr>
          <a:xfrm>
            <a:off x="6355080" y="1417320"/>
            <a:ext cx="5257800" cy="4709160"/>
          </a:xfrm>
          <a:prstGeom prst="roundRect">
            <a:avLst>
              <a:gd name="adj" fmla="val 2330"/>
            </a:avLst>
          </a:prstGeom>
          <a:solidFill>
            <a:srgbClr val="F2F7F6"/>
          </a:solidFill>
          <a:ln/>
        </p:spPr>
      </p:sp>
      <p:sp>
        <p:nvSpPr>
          <p:cNvPr id="18" name="Shape 15"/>
          <p:cNvSpPr/>
          <p:nvPr/>
        </p:nvSpPr>
        <p:spPr>
          <a:xfrm>
            <a:off x="6675120" y="1691640"/>
            <a:ext cx="548640" cy="548640"/>
          </a:xfrm>
          <a:prstGeom prst="ellipse">
            <a:avLst/>
          </a:prstGeom>
          <a:solidFill>
            <a:srgbClr val="028090"/>
          </a:solidFill>
          <a:ln/>
        </p:spPr>
      </p:sp>
      <p:pic>
        <p:nvPicPr>
          <p:cNvPr id="19" name="Image 1" descr="/home/claude/onlineshopping/icons/users_FFFFFF.png">    </p:cNvPr>
          <p:cNvPicPr>
            <a:picLocks noChangeAspect="1"/>
          </p:cNvPicPr>
          <p:nvPr/>
        </p:nvPicPr>
        <p:blipFill>
          <a:blip r:embed="rId2"/>
          <a:stretch>
            <a:fillRect/>
          </a:stretch>
        </p:blipFill>
        <p:spPr>
          <a:xfrm>
            <a:off x="6790334" y="1806854"/>
            <a:ext cx="318211" cy="318211"/>
          </a:xfrm>
          <a:prstGeom prst="rect">
            <a:avLst/>
          </a:prstGeom>
        </p:spPr>
      </p:pic>
      <p:sp>
        <p:nvSpPr>
          <p:cNvPr id="20" name="Text 16"/>
          <p:cNvSpPr/>
          <p:nvPr/>
        </p:nvSpPr>
        <p:spPr>
          <a:xfrm>
            <a:off x="7360920" y="1737360"/>
            <a:ext cx="3657600" cy="457200"/>
          </a:xfrm>
          <a:prstGeom prst="rect">
            <a:avLst/>
          </a:prstGeom>
          <a:noFill/>
          <a:ln/>
        </p:spPr>
        <p:txBody>
          <a:bodyPr wrap="square" lIns="0" tIns="0" rIns="0" bIns="0" rtlCol="0" anchor="ctr"/>
          <a:lstStyle/>
          <a:p>
            <a:pPr indent="0" marL="0">
              <a:buNone/>
            </a:pPr>
            <a:r>
              <a:rPr lang="en-US" sz="1700" b="1" dirty="0">
                <a:solidFill>
                  <a:srgbClr val="1B2A2E"/>
                </a:solidFill>
                <a:latin typeface="Calibri" pitchFamily="34" charset="0"/>
                <a:ea typeface="Calibri" pitchFamily="34" charset="-122"/>
                <a:cs typeface="Calibri" pitchFamily="34" charset="-120"/>
              </a:rPr>
              <a:t>For Consumers</a:t>
            </a:r>
            <a:endParaRPr lang="en-US" sz="1700" dirty="0"/>
          </a:p>
        </p:txBody>
      </p:sp>
      <p:sp>
        <p:nvSpPr>
          <p:cNvPr id="21" name="Shape 17"/>
          <p:cNvSpPr/>
          <p:nvPr/>
        </p:nvSpPr>
        <p:spPr>
          <a:xfrm>
            <a:off x="6675120" y="2542032"/>
            <a:ext cx="82296" cy="82296"/>
          </a:xfrm>
          <a:prstGeom prst="ellipse">
            <a:avLst/>
          </a:prstGeom>
          <a:solidFill>
            <a:srgbClr val="028090"/>
          </a:solidFill>
          <a:ln/>
        </p:spPr>
      </p:sp>
      <p:sp>
        <p:nvSpPr>
          <p:cNvPr id="22" name="Text 18"/>
          <p:cNvSpPr/>
          <p:nvPr/>
        </p:nvSpPr>
        <p:spPr>
          <a:xfrm>
            <a:off x="6903720" y="2395728"/>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1B2A2E"/>
                </a:solidFill>
                <a:latin typeface="Calibri" pitchFamily="34" charset="0"/>
                <a:ea typeface="Calibri" pitchFamily="34" charset="-122"/>
                <a:cs typeface="Calibri" pitchFamily="34" charset="-120"/>
              </a:rPr>
              <a:t>Greater convenience and time savings</a:t>
            </a:r>
            <a:endParaRPr lang="en-US" sz="1250" dirty="0"/>
          </a:p>
        </p:txBody>
      </p:sp>
      <p:sp>
        <p:nvSpPr>
          <p:cNvPr id="23" name="Shape 19"/>
          <p:cNvSpPr/>
          <p:nvPr/>
        </p:nvSpPr>
        <p:spPr>
          <a:xfrm>
            <a:off x="6675120" y="3200400"/>
            <a:ext cx="82296" cy="82296"/>
          </a:xfrm>
          <a:prstGeom prst="ellipse">
            <a:avLst/>
          </a:prstGeom>
          <a:solidFill>
            <a:srgbClr val="028090"/>
          </a:solidFill>
          <a:ln/>
        </p:spPr>
      </p:sp>
      <p:sp>
        <p:nvSpPr>
          <p:cNvPr id="24" name="Text 20"/>
          <p:cNvSpPr/>
          <p:nvPr/>
        </p:nvSpPr>
        <p:spPr>
          <a:xfrm>
            <a:off x="6903720" y="3054096"/>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1B2A2E"/>
                </a:solidFill>
                <a:latin typeface="Calibri" pitchFamily="34" charset="0"/>
                <a:ea typeface="Calibri" pitchFamily="34" charset="-122"/>
                <a:cs typeface="Calibri" pitchFamily="34" charset="-120"/>
              </a:rPr>
              <a:t>Wider selection and easier price comparison</a:t>
            </a:r>
            <a:endParaRPr lang="en-US" sz="1250" dirty="0"/>
          </a:p>
        </p:txBody>
      </p:sp>
      <p:sp>
        <p:nvSpPr>
          <p:cNvPr id="25" name="Shape 21"/>
          <p:cNvSpPr/>
          <p:nvPr/>
        </p:nvSpPr>
        <p:spPr>
          <a:xfrm>
            <a:off x="6675120" y="3858768"/>
            <a:ext cx="82296" cy="82296"/>
          </a:xfrm>
          <a:prstGeom prst="ellipse">
            <a:avLst/>
          </a:prstGeom>
          <a:solidFill>
            <a:srgbClr val="028090"/>
          </a:solidFill>
          <a:ln/>
        </p:spPr>
      </p:sp>
      <p:sp>
        <p:nvSpPr>
          <p:cNvPr id="26" name="Text 22"/>
          <p:cNvSpPr/>
          <p:nvPr/>
        </p:nvSpPr>
        <p:spPr>
          <a:xfrm>
            <a:off x="6903720" y="3712464"/>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1B2A2E"/>
                </a:solidFill>
                <a:latin typeface="Calibri" pitchFamily="34" charset="0"/>
                <a:ea typeface="Calibri" pitchFamily="34" charset="-122"/>
                <a:cs typeface="Calibri" pitchFamily="34" charset="-120"/>
              </a:rPr>
              <a:t>Personalized recommendations and offers</a:t>
            </a:r>
            <a:endParaRPr lang="en-US" sz="1250" dirty="0"/>
          </a:p>
        </p:txBody>
      </p:sp>
      <p:sp>
        <p:nvSpPr>
          <p:cNvPr id="27" name="Shape 23"/>
          <p:cNvSpPr/>
          <p:nvPr/>
        </p:nvSpPr>
        <p:spPr>
          <a:xfrm>
            <a:off x="6675120" y="4517136"/>
            <a:ext cx="82296" cy="82296"/>
          </a:xfrm>
          <a:prstGeom prst="ellipse">
            <a:avLst/>
          </a:prstGeom>
          <a:solidFill>
            <a:srgbClr val="028090"/>
          </a:solidFill>
          <a:ln/>
        </p:spPr>
      </p:sp>
      <p:sp>
        <p:nvSpPr>
          <p:cNvPr id="28" name="Text 24"/>
          <p:cNvSpPr/>
          <p:nvPr/>
        </p:nvSpPr>
        <p:spPr>
          <a:xfrm>
            <a:off x="6903720" y="4370832"/>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1B2A2E"/>
                </a:solidFill>
                <a:latin typeface="Calibri" pitchFamily="34" charset="0"/>
                <a:ea typeface="Calibri" pitchFamily="34" charset="-122"/>
                <a:cs typeface="Calibri" pitchFamily="34" charset="-120"/>
              </a:rPr>
              <a:t>Less in-person interaction and instant gratification</a:t>
            </a:r>
            <a:endParaRPr lang="en-US" sz="1250" dirty="0"/>
          </a:p>
        </p:txBody>
      </p:sp>
      <p:sp>
        <p:nvSpPr>
          <p:cNvPr id="29" name="Shape 25"/>
          <p:cNvSpPr/>
          <p:nvPr/>
        </p:nvSpPr>
        <p:spPr>
          <a:xfrm>
            <a:off x="6675120" y="5175504"/>
            <a:ext cx="82296" cy="82296"/>
          </a:xfrm>
          <a:prstGeom prst="ellipse">
            <a:avLst/>
          </a:prstGeom>
          <a:solidFill>
            <a:srgbClr val="028090"/>
          </a:solidFill>
          <a:ln/>
        </p:spPr>
      </p:sp>
      <p:sp>
        <p:nvSpPr>
          <p:cNvPr id="30" name="Text 26"/>
          <p:cNvSpPr/>
          <p:nvPr/>
        </p:nvSpPr>
        <p:spPr>
          <a:xfrm>
            <a:off x="6903720" y="5029200"/>
            <a:ext cx="4572000" cy="502920"/>
          </a:xfrm>
          <a:prstGeom prst="rect">
            <a:avLst/>
          </a:prstGeom>
          <a:noFill/>
          <a:ln/>
        </p:spPr>
        <p:txBody>
          <a:bodyPr wrap="square" lIns="0" tIns="0" rIns="0" bIns="0" rtlCol="0" anchor="ctr"/>
          <a:lstStyle/>
          <a:p>
            <a:pPr indent="0" marL="0">
              <a:lnSpc>
                <a:spcPct val="115000"/>
              </a:lnSpc>
              <a:buNone/>
            </a:pPr>
            <a:r>
              <a:rPr lang="en-US" sz="1250" dirty="0">
                <a:solidFill>
                  <a:srgbClr val="1B2A2E"/>
                </a:solidFill>
                <a:latin typeface="Calibri" pitchFamily="34" charset="0"/>
                <a:ea typeface="Calibri" pitchFamily="34" charset="-122"/>
                <a:cs typeface="Calibri" pitchFamily="34" charset="-120"/>
              </a:rPr>
              <a:t>Must stay alert to scams and data privacy</a:t>
            </a:r>
            <a:endParaRPr lang="en-US" sz="1250" dirty="0"/>
          </a:p>
        </p:txBody>
      </p:sp>
      <p:sp>
        <p:nvSpPr>
          <p:cNvPr id="31" name="Text 27"/>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32" name="Text 28"/>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9</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6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par>
                    <p:cTn id="69" presetID="10" presetClass="entr" presetSubtype="0" fill="hold" grpId="0">
                      <p:stCondLst>
                        <p:cond delay="13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50"/>
                            <p:tgtEl>
                              <p:spTgt spid="21"/>
                            </p:tgtEl>
                          </p:cBhvr>
                        </p:animEffect>
                      </p:childTnLst>
                    </p:cTn>
                  </p:par>
                  <p:par>
                    <p:cTn id="72" presetID="10" presetClass="entr" presetSubtype="0" fill="hold" grpId="0">
                      <p:stCondLst>
                        <p:cond delay="140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50"/>
                            <p:tgtEl>
                              <p:spTgt spid="22"/>
                            </p:tgtEl>
                          </p:cBhvr>
                        </p:animEffect>
                      </p:childTnLst>
                    </p:cTn>
                  </p:par>
                  <p:par>
                    <p:cTn id="75" presetID="10" presetClass="entr" presetSubtype="0" fill="hold" grpId="0">
                      <p:stCondLst>
                        <p:cond delay="147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childTnLst>
                    </p:cTn>
                  </p:par>
                  <p:par>
                    <p:cTn id="78" presetID="10" presetClass="entr" presetSubtype="0" fill="hold" grpId="0">
                      <p:stCondLst>
                        <p:cond delay="154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50"/>
                            <p:tgtEl>
                              <p:spTgt spid="24"/>
                            </p:tgtEl>
                          </p:cBhvr>
                        </p:animEffect>
                      </p:childTnLst>
                    </p:cTn>
                  </p:par>
                  <p:par>
                    <p:cTn id="81" presetID="10" presetClass="entr" presetSubtype="0" fill="hold" grpId="0">
                      <p:stCondLst>
                        <p:cond delay="161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50"/>
                            <p:tgtEl>
                              <p:spTgt spid="25"/>
                            </p:tgtEl>
                          </p:cBhvr>
                        </p:animEffect>
                      </p:childTnLst>
                    </p:cTn>
                  </p:par>
                  <p:par>
                    <p:cTn id="84" presetID="10" presetClass="entr" presetSubtype="0" fill="hold" grpId="0">
                      <p:stCondLst>
                        <p:cond delay="168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50"/>
                            <p:tgtEl>
                              <p:spTgt spid="26"/>
                            </p:tgtEl>
                          </p:cBhvr>
                        </p:animEffect>
                      </p:childTnLst>
                    </p:cTn>
                  </p:par>
                  <p:par>
                    <p:cTn id="87" presetID="10" presetClass="entr" presetSubtype="0" fill="hold" grpId="0">
                      <p:stCondLst>
                        <p:cond delay="175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350"/>
                            <p:tgtEl>
                              <p:spTgt spid="27"/>
                            </p:tgtEl>
                          </p:cBhvr>
                        </p:animEffect>
                      </p:childTnLst>
                    </p:cTn>
                  </p:par>
                  <p:par>
                    <p:cTn id="90" presetID="10" presetClass="entr" presetSubtype="0" fill="hold" grpId="0">
                      <p:stCondLst>
                        <p:cond delay="182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350"/>
                            <p:tgtEl>
                              <p:spTgt spid="28"/>
                            </p:tgtEl>
                          </p:cBhvr>
                        </p:animEffect>
                      </p:childTnLst>
                    </p:cTn>
                  </p:par>
                  <p:par>
                    <p:cTn id="93" presetID="10" presetClass="entr" presetSubtype="0" fill="hold" grpId="0">
                      <p:stCondLst>
                        <p:cond delay="189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350"/>
                            <p:tgtEl>
                              <p:spTgt spid="29"/>
                            </p:tgtEl>
                          </p:cBhvr>
                        </p:animEffect>
                      </p:childTnLst>
                    </p:cTn>
                  </p:par>
                  <p:par>
                    <p:cTn id="96" presetID="10" presetClass="entr" presetSubtype="0" fill="hold" grpId="0">
                      <p:stCondLst>
                        <p:cond delay="196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50"/>
                            <p:tgtEl>
                              <p:spTgt spid="30"/>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2A2E"/>
                </a:solidFill>
                <a:latin typeface="Cambria" pitchFamily="34" charset="0"/>
                <a:ea typeface="Cambria" pitchFamily="34" charset="-122"/>
                <a:cs typeface="Cambria" pitchFamily="34" charset="-120"/>
              </a:rPr>
              <a:t>The Future of Online Shopping</a:t>
            </a:r>
            <a:endParaRPr lang="en-US" sz="3200" dirty="0"/>
          </a:p>
        </p:txBody>
      </p:sp>
      <p:graphicFrame>
        <p:nvGraphicFramePr>
          <p:cNvPr id="3" name="Chart 0" descr=""/>
          <p:cNvGraphicFramePr/>
          <p:nvPr/>
        </p:nvGraphicFramePr>
        <p:xfrm>
          <a:off x="548640" y="128016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548640" y="4572000"/>
            <a:ext cx="5486400" cy="274320"/>
          </a:xfrm>
          <a:prstGeom prst="rect">
            <a:avLst/>
          </a:prstGeom>
          <a:noFill/>
          <a:ln/>
        </p:spPr>
        <p:txBody>
          <a:bodyPr wrap="square" lIns="0" tIns="0" rIns="0" bIns="0" rtlCol="0" anchor="ctr"/>
          <a:lstStyle/>
          <a:p>
            <a:pPr indent="0" marL="0">
              <a:buNone/>
            </a:pPr>
            <a:r>
              <a:rPr lang="en-US" sz="950" i="1" dirty="0">
                <a:solidFill>
                  <a:srgbClr val="5C7378"/>
                </a:solidFill>
                <a:latin typeface="Calibri" pitchFamily="34" charset="0"/>
                <a:ea typeface="Calibri" pitchFamily="34" charset="-122"/>
                <a:cs typeface="Calibri" pitchFamily="34" charset="-120"/>
              </a:rPr>
              <a:t>Source: Shopify / EMARKETER forecasts, 2026</a:t>
            </a:r>
            <a:endParaRPr lang="en-US" sz="950" dirty="0"/>
          </a:p>
        </p:txBody>
      </p:sp>
      <p:sp>
        <p:nvSpPr>
          <p:cNvPr id="5" name="Shape 2"/>
          <p:cNvSpPr/>
          <p:nvPr/>
        </p:nvSpPr>
        <p:spPr>
          <a:xfrm>
            <a:off x="6400800" y="1371600"/>
            <a:ext cx="457200" cy="457200"/>
          </a:xfrm>
          <a:prstGeom prst="ellipse">
            <a:avLst/>
          </a:prstGeom>
          <a:solidFill>
            <a:srgbClr val="02C39A"/>
          </a:solidFill>
          <a:ln/>
        </p:spPr>
      </p:sp>
      <p:pic>
        <p:nvPicPr>
          <p:cNvPr id="6" name="Image 0" descr="/home/claude/onlineshopping/icons/phone_0B2E3D.png">    </p:cNvPr>
          <p:cNvPicPr>
            <a:picLocks noChangeAspect="1"/>
          </p:cNvPicPr>
          <p:nvPr/>
        </p:nvPicPr>
        <p:blipFill>
          <a:blip r:embed="rId2"/>
          <a:stretch>
            <a:fillRect/>
          </a:stretch>
        </p:blipFill>
        <p:spPr>
          <a:xfrm>
            <a:off x="6496812" y="1467612"/>
            <a:ext cx="265176" cy="265176"/>
          </a:xfrm>
          <a:prstGeom prst="rect">
            <a:avLst/>
          </a:prstGeom>
        </p:spPr>
      </p:pic>
      <p:sp>
        <p:nvSpPr>
          <p:cNvPr id="7" name="Text 3"/>
          <p:cNvSpPr/>
          <p:nvPr/>
        </p:nvSpPr>
        <p:spPr>
          <a:xfrm>
            <a:off x="6995160" y="1353312"/>
            <a:ext cx="4663440" cy="292608"/>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Mobile-first shopping</a:t>
            </a:r>
            <a:endParaRPr lang="en-US" sz="1350" dirty="0"/>
          </a:p>
        </p:txBody>
      </p:sp>
      <p:sp>
        <p:nvSpPr>
          <p:cNvPr id="8" name="Text 4"/>
          <p:cNvSpPr/>
          <p:nvPr/>
        </p:nvSpPr>
        <p:spPr>
          <a:xfrm>
            <a:off x="6995160" y="1645920"/>
            <a:ext cx="4663440" cy="411480"/>
          </a:xfrm>
          <a:prstGeom prst="rect">
            <a:avLst/>
          </a:prstGeom>
          <a:noFill/>
          <a:ln/>
        </p:spPr>
        <p:txBody>
          <a:bodyPr wrap="square" lIns="0" tIns="0" rIns="0" bIns="0" rtlCol="0" anchor="ctr"/>
          <a:lstStyle/>
          <a:p>
            <a:pPr indent="0" marL="0">
              <a:buNone/>
            </a:pPr>
            <a:r>
              <a:rPr lang="en-US" sz="1150" dirty="0">
                <a:solidFill>
                  <a:srgbClr val="5C7378"/>
                </a:solidFill>
                <a:latin typeface="Calibri" pitchFamily="34" charset="0"/>
                <a:ea typeface="Calibri" pitchFamily="34" charset="-122"/>
                <a:cs typeface="Calibri" pitchFamily="34" charset="-120"/>
              </a:rPr>
              <a:t>Mobile already drives ~60% of global online sales.</a:t>
            </a:r>
            <a:endParaRPr lang="en-US" sz="1150" dirty="0"/>
          </a:p>
        </p:txBody>
      </p:sp>
      <p:sp>
        <p:nvSpPr>
          <p:cNvPr id="9" name="Shape 5"/>
          <p:cNvSpPr/>
          <p:nvPr/>
        </p:nvSpPr>
        <p:spPr>
          <a:xfrm>
            <a:off x="6400800" y="2212848"/>
            <a:ext cx="457200" cy="457200"/>
          </a:xfrm>
          <a:prstGeom prst="ellipse">
            <a:avLst/>
          </a:prstGeom>
          <a:solidFill>
            <a:srgbClr val="02C39A"/>
          </a:solidFill>
          <a:ln/>
        </p:spPr>
      </p:sp>
      <p:pic>
        <p:nvPicPr>
          <p:cNvPr id="10" name="Image 1" descr="/home/claude/onlineshopping/icons/trend_0B2E3D.png">    </p:cNvPr>
          <p:cNvPicPr>
            <a:picLocks noChangeAspect="1"/>
          </p:cNvPicPr>
          <p:nvPr/>
        </p:nvPicPr>
        <p:blipFill>
          <a:blip r:embed="rId3"/>
          <a:stretch>
            <a:fillRect/>
          </a:stretch>
        </p:blipFill>
        <p:spPr>
          <a:xfrm>
            <a:off x="6496812" y="2308860"/>
            <a:ext cx="265176" cy="265176"/>
          </a:xfrm>
          <a:prstGeom prst="rect">
            <a:avLst/>
          </a:prstGeom>
        </p:spPr>
      </p:pic>
      <p:sp>
        <p:nvSpPr>
          <p:cNvPr id="11" name="Text 6"/>
          <p:cNvSpPr/>
          <p:nvPr/>
        </p:nvSpPr>
        <p:spPr>
          <a:xfrm>
            <a:off x="6995160" y="2194560"/>
            <a:ext cx="4663440" cy="292608"/>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AI-powered personalization</a:t>
            </a:r>
            <a:endParaRPr lang="en-US" sz="1350" dirty="0"/>
          </a:p>
        </p:txBody>
      </p:sp>
      <p:sp>
        <p:nvSpPr>
          <p:cNvPr id="12" name="Text 7"/>
          <p:cNvSpPr/>
          <p:nvPr/>
        </p:nvSpPr>
        <p:spPr>
          <a:xfrm>
            <a:off x="6995160" y="2487168"/>
            <a:ext cx="4663440" cy="411480"/>
          </a:xfrm>
          <a:prstGeom prst="rect">
            <a:avLst/>
          </a:prstGeom>
          <a:noFill/>
          <a:ln/>
        </p:spPr>
        <p:txBody>
          <a:bodyPr wrap="square" lIns="0" tIns="0" rIns="0" bIns="0" rtlCol="0" anchor="ctr"/>
          <a:lstStyle/>
          <a:p>
            <a:pPr indent="0" marL="0">
              <a:buNone/>
            </a:pPr>
            <a:r>
              <a:rPr lang="en-US" sz="1150" dirty="0">
                <a:solidFill>
                  <a:srgbClr val="5C7378"/>
                </a:solidFill>
                <a:latin typeface="Calibri" pitchFamily="34" charset="0"/>
                <a:ea typeface="Calibri" pitchFamily="34" charset="-122"/>
                <a:cs typeface="Calibri" pitchFamily="34" charset="-120"/>
              </a:rPr>
              <a:t>Smarter recommendations, chat assistants, and search.</a:t>
            </a:r>
            <a:endParaRPr lang="en-US" sz="1150" dirty="0"/>
          </a:p>
        </p:txBody>
      </p:sp>
      <p:sp>
        <p:nvSpPr>
          <p:cNvPr id="13" name="Shape 8"/>
          <p:cNvSpPr/>
          <p:nvPr/>
        </p:nvSpPr>
        <p:spPr>
          <a:xfrm>
            <a:off x="6400800" y="3054096"/>
            <a:ext cx="457200" cy="457200"/>
          </a:xfrm>
          <a:prstGeom prst="ellipse">
            <a:avLst/>
          </a:prstGeom>
          <a:solidFill>
            <a:srgbClr val="02C39A"/>
          </a:solidFill>
          <a:ln/>
        </p:spPr>
      </p:sp>
      <p:pic>
        <p:nvPicPr>
          <p:cNvPr id="14" name="Image 2" descr="/home/claude/onlineshopping/icons/users_0B2E3D.png">    </p:cNvPr>
          <p:cNvPicPr>
            <a:picLocks noChangeAspect="1"/>
          </p:cNvPicPr>
          <p:nvPr/>
        </p:nvPicPr>
        <p:blipFill>
          <a:blip r:embed="rId4"/>
          <a:stretch>
            <a:fillRect/>
          </a:stretch>
        </p:blipFill>
        <p:spPr>
          <a:xfrm>
            <a:off x="6496812" y="3150108"/>
            <a:ext cx="265176" cy="265176"/>
          </a:xfrm>
          <a:prstGeom prst="rect">
            <a:avLst/>
          </a:prstGeom>
        </p:spPr>
      </p:pic>
      <p:sp>
        <p:nvSpPr>
          <p:cNvPr id="15" name="Text 9"/>
          <p:cNvSpPr/>
          <p:nvPr/>
        </p:nvSpPr>
        <p:spPr>
          <a:xfrm>
            <a:off x="6995160" y="3035808"/>
            <a:ext cx="4663440" cy="292608"/>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Social commerce growth</a:t>
            </a:r>
            <a:endParaRPr lang="en-US" sz="1350" dirty="0"/>
          </a:p>
        </p:txBody>
      </p:sp>
      <p:sp>
        <p:nvSpPr>
          <p:cNvPr id="16" name="Text 10"/>
          <p:cNvSpPr/>
          <p:nvPr/>
        </p:nvSpPr>
        <p:spPr>
          <a:xfrm>
            <a:off x="6995160" y="3328416"/>
            <a:ext cx="4663440" cy="411480"/>
          </a:xfrm>
          <a:prstGeom prst="rect">
            <a:avLst/>
          </a:prstGeom>
          <a:noFill/>
          <a:ln/>
        </p:spPr>
        <p:txBody>
          <a:bodyPr wrap="square" lIns="0" tIns="0" rIns="0" bIns="0" rtlCol="0" anchor="ctr"/>
          <a:lstStyle/>
          <a:p>
            <a:pPr indent="0" marL="0">
              <a:buNone/>
            </a:pPr>
            <a:r>
              <a:rPr lang="en-US" sz="1150" dirty="0">
                <a:solidFill>
                  <a:srgbClr val="5C7378"/>
                </a:solidFill>
                <a:latin typeface="Calibri" pitchFamily="34" charset="0"/>
                <a:ea typeface="Calibri" pitchFamily="34" charset="-122"/>
                <a:cs typeface="Calibri" pitchFamily="34" charset="-120"/>
              </a:rPr>
              <a:t>Buying directly through TikTok, Instagram, and Facebook.</a:t>
            </a:r>
            <a:endParaRPr lang="en-US" sz="1150" dirty="0"/>
          </a:p>
        </p:txBody>
      </p:sp>
      <p:sp>
        <p:nvSpPr>
          <p:cNvPr id="17" name="Shape 11"/>
          <p:cNvSpPr/>
          <p:nvPr/>
        </p:nvSpPr>
        <p:spPr>
          <a:xfrm>
            <a:off x="6400800" y="3895344"/>
            <a:ext cx="457200" cy="457200"/>
          </a:xfrm>
          <a:prstGeom prst="ellipse">
            <a:avLst/>
          </a:prstGeom>
          <a:solidFill>
            <a:srgbClr val="02C39A"/>
          </a:solidFill>
          <a:ln/>
        </p:spPr>
      </p:sp>
      <p:pic>
        <p:nvPicPr>
          <p:cNvPr id="18" name="Image 3" descr="/home/claude/onlineshopping/icons/package_0B2E3D.png">    </p:cNvPr>
          <p:cNvPicPr>
            <a:picLocks noChangeAspect="1"/>
          </p:cNvPicPr>
          <p:nvPr/>
        </p:nvPicPr>
        <p:blipFill>
          <a:blip r:embed="rId5"/>
          <a:stretch>
            <a:fillRect/>
          </a:stretch>
        </p:blipFill>
        <p:spPr>
          <a:xfrm>
            <a:off x="6496812" y="3991356"/>
            <a:ext cx="265176" cy="265176"/>
          </a:xfrm>
          <a:prstGeom prst="rect">
            <a:avLst/>
          </a:prstGeom>
        </p:spPr>
      </p:pic>
      <p:sp>
        <p:nvSpPr>
          <p:cNvPr id="19" name="Text 12"/>
          <p:cNvSpPr/>
          <p:nvPr/>
        </p:nvSpPr>
        <p:spPr>
          <a:xfrm>
            <a:off x="6995160" y="3877056"/>
            <a:ext cx="4663440" cy="292608"/>
          </a:xfrm>
          <a:prstGeom prst="rect">
            <a:avLst/>
          </a:prstGeom>
          <a:noFill/>
          <a:ln/>
        </p:spPr>
        <p:txBody>
          <a:bodyPr wrap="square" lIns="0" tIns="0" rIns="0" bIns="0" rtlCol="0" anchor="ctr"/>
          <a:lstStyle/>
          <a:p>
            <a:pPr indent="0" marL="0">
              <a:buNone/>
            </a:pPr>
            <a:r>
              <a:rPr lang="en-US" sz="1350" b="1" dirty="0">
                <a:solidFill>
                  <a:srgbClr val="1B2A2E"/>
                </a:solidFill>
                <a:latin typeface="Calibri" pitchFamily="34" charset="0"/>
                <a:ea typeface="Calibri" pitchFamily="34" charset="-122"/>
                <a:cs typeface="Calibri" pitchFamily="34" charset="-120"/>
              </a:rPr>
              <a:t>Faster, greener delivery</a:t>
            </a:r>
            <a:endParaRPr lang="en-US" sz="1350" dirty="0"/>
          </a:p>
        </p:txBody>
      </p:sp>
      <p:sp>
        <p:nvSpPr>
          <p:cNvPr id="20" name="Text 13"/>
          <p:cNvSpPr/>
          <p:nvPr/>
        </p:nvSpPr>
        <p:spPr>
          <a:xfrm>
            <a:off x="6995160" y="4169664"/>
            <a:ext cx="4663440" cy="411480"/>
          </a:xfrm>
          <a:prstGeom prst="rect">
            <a:avLst/>
          </a:prstGeom>
          <a:noFill/>
          <a:ln/>
        </p:spPr>
        <p:txBody>
          <a:bodyPr wrap="square" lIns="0" tIns="0" rIns="0" bIns="0" rtlCol="0" anchor="ctr"/>
          <a:lstStyle/>
          <a:p>
            <a:pPr indent="0" marL="0">
              <a:buNone/>
            </a:pPr>
            <a:r>
              <a:rPr lang="en-US" sz="1150" dirty="0">
                <a:solidFill>
                  <a:srgbClr val="5C7378"/>
                </a:solidFill>
                <a:latin typeface="Calibri" pitchFamily="34" charset="0"/>
                <a:ea typeface="Calibri" pitchFamily="34" charset="-122"/>
                <a:cs typeface="Calibri" pitchFamily="34" charset="-120"/>
              </a:rPr>
              <a:t>Same-day shipping and more sustainable packaging.</a:t>
            </a:r>
            <a:endParaRPr lang="en-US" sz="1150" dirty="0"/>
          </a:p>
        </p:txBody>
      </p:sp>
      <p:sp>
        <p:nvSpPr>
          <p:cNvPr id="21" name="Text 14"/>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22" name="Text 15"/>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60" presetID="10" presetClass="entr" presetSubtype="0" fill="hold" grpId="0">
                      <p:stCondLst>
                        <p:cond delay="112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3" presetID="10" presetClass="entr" presetSubtype="0" fill="hold" grpId="0">
                      <p:stCondLst>
                        <p:cond delay="11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par>
                    <p:cTn id="66" presetID="10" presetClass="entr" presetSubtype="0" fill="hold" grpId="0">
                      <p:stCondLst>
                        <p:cond delay="126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50"/>
                            <p:tgtEl>
                              <p:spTgt spid="20"/>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E3D"/>
        </a:solidFill>
      </p:bgPr>
    </p:bg>
    <p:spTree>
      <p:nvGrpSpPr>
        <p:cNvPr id="1" name=""/>
        <p:cNvGrpSpPr/>
        <p:nvPr/>
      </p:nvGrpSpPr>
      <p:grpSpPr>
        <a:xfrm>
          <a:off x="0" y="0"/>
          <a:ext cx="0" cy="0"/>
          <a:chOff x="0" y="0"/>
          <a:chExt cx="0" cy="0"/>
        </a:xfrm>
      </p:grpSpPr>
      <p:sp>
        <p:nvSpPr>
          <p:cNvPr id="2" name="Shape 0"/>
          <p:cNvSpPr/>
          <p:nvPr/>
        </p:nvSpPr>
        <p:spPr>
          <a:xfrm>
            <a:off x="9601200" y="4114800"/>
            <a:ext cx="4114800" cy="4114800"/>
          </a:xfrm>
          <a:prstGeom prst="ellipse">
            <a:avLst/>
          </a:prstGeom>
          <a:solidFill>
            <a:srgbClr val="0F3E50"/>
          </a:solidFill>
          <a:ln/>
        </p:spPr>
      </p:sp>
      <p:sp>
        <p:nvSpPr>
          <p:cNvPr id="3" name="Text 1"/>
          <p:cNvSpPr/>
          <p:nvPr/>
        </p:nvSpPr>
        <p:spPr>
          <a:xfrm>
            <a:off x="640080" y="54864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Text 2"/>
          <p:cNvSpPr/>
          <p:nvPr/>
        </p:nvSpPr>
        <p:spPr>
          <a:xfrm>
            <a:off x="640080" y="1417320"/>
            <a:ext cx="6583680" cy="1645920"/>
          </a:xfrm>
          <a:prstGeom prst="rect">
            <a:avLst/>
          </a:prstGeom>
          <a:noFill/>
          <a:ln/>
        </p:spPr>
        <p:txBody>
          <a:bodyPr wrap="square" lIns="0" tIns="0" rIns="0" bIns="0" rtlCol="0" anchor="ctr"/>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Online shopping has become a core part of how people buy — and how businesses sell.</a:t>
            </a:r>
            <a:endParaRPr lang="en-US" sz="1500" dirty="0"/>
          </a:p>
          <a:p>
            <a:pPr indent="0" marL="0">
              <a:lnSpc>
                <a:spcPct val="130000"/>
              </a:lnSpc>
              <a:buNone/>
            </a:pPr>
            <a:r>
              <a:rPr lang="en-US" sz="1500" dirty="0">
                <a:solidFill>
                  <a:srgbClr val="000000"/>
                </a:solidFill>
                <a:latin typeface="Calibri" pitchFamily="34" charset="0"/>
                <a:ea typeface="Calibri" pitchFamily="34" charset="-122"/>
                <a:cs typeface="Calibri" pitchFamily="34" charset="-120"/>
              </a:rPr>
              <a:t> </a:t>
            </a:r>
            <a:endParaRPr lang="en-US" sz="1500" dirty="0"/>
          </a:p>
          <a:p>
            <a:pPr indent="0" marL="0">
              <a:lnSpc>
                <a:spcPct val="130000"/>
              </a:lnSpc>
              <a:buNone/>
            </a:pPr>
            <a:r>
              <a:rPr lang="en-US" sz="1500" dirty="0">
                <a:solidFill>
                  <a:srgbClr val="D6E5E8"/>
                </a:solidFill>
                <a:latin typeface="Calibri" pitchFamily="34" charset="0"/>
                <a:ea typeface="Calibri" pitchFamily="34" charset="-122"/>
                <a:cs typeface="Calibri" pitchFamily="34" charset="-120"/>
              </a:rPr>
              <a:t>It offers real advantages in convenience, choice, and reach, but also brings risks around fraud, data privacy, and delivery.</a:t>
            </a:r>
            <a:endParaRPr lang="en-US" sz="1500" dirty="0"/>
          </a:p>
        </p:txBody>
      </p:sp>
      <p:sp>
        <p:nvSpPr>
          <p:cNvPr id="5" name="Shape 3"/>
          <p:cNvSpPr/>
          <p:nvPr/>
        </p:nvSpPr>
        <p:spPr>
          <a:xfrm>
            <a:off x="640080" y="3200400"/>
            <a:ext cx="411480" cy="411480"/>
          </a:xfrm>
          <a:prstGeom prst="ellipse">
            <a:avLst/>
          </a:prstGeom>
          <a:solidFill>
            <a:srgbClr val="02C39A"/>
          </a:solidFill>
          <a:ln/>
        </p:spPr>
      </p:sp>
      <p:pic>
        <p:nvPicPr>
          <p:cNvPr id="6" name="Image 0" descr="/home/claude/onlineshopping/icons/check_0B2E3D.png">    </p:cNvPr>
          <p:cNvPicPr>
            <a:picLocks noChangeAspect="1"/>
          </p:cNvPicPr>
          <p:nvPr/>
        </p:nvPicPr>
        <p:blipFill>
          <a:blip r:embed="rId1"/>
          <a:stretch>
            <a:fillRect/>
          </a:stretch>
        </p:blipFill>
        <p:spPr>
          <a:xfrm>
            <a:off x="732663" y="3292983"/>
            <a:ext cx="226314" cy="226314"/>
          </a:xfrm>
          <a:prstGeom prst="rect">
            <a:avLst/>
          </a:prstGeom>
        </p:spPr>
      </p:pic>
      <p:sp>
        <p:nvSpPr>
          <p:cNvPr id="7" name="Text 4"/>
          <p:cNvSpPr/>
          <p:nvPr/>
        </p:nvSpPr>
        <p:spPr>
          <a:xfrm>
            <a:off x="1188720" y="3218688"/>
            <a:ext cx="59436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Adopt secure, trusted payment and checkout processes</a:t>
            </a:r>
            <a:endParaRPr lang="en-US" sz="1300" dirty="0"/>
          </a:p>
        </p:txBody>
      </p:sp>
      <p:sp>
        <p:nvSpPr>
          <p:cNvPr id="8" name="Shape 5"/>
          <p:cNvSpPr/>
          <p:nvPr/>
        </p:nvSpPr>
        <p:spPr>
          <a:xfrm>
            <a:off x="640080" y="3794760"/>
            <a:ext cx="411480" cy="411480"/>
          </a:xfrm>
          <a:prstGeom prst="ellipse">
            <a:avLst/>
          </a:prstGeom>
          <a:solidFill>
            <a:srgbClr val="02C39A"/>
          </a:solidFill>
          <a:ln/>
        </p:spPr>
      </p:sp>
      <p:pic>
        <p:nvPicPr>
          <p:cNvPr id="9" name="Image 1" descr="/home/claude/onlineshopping/icons/shield_0B2E3D.png">    </p:cNvPr>
          <p:cNvPicPr>
            <a:picLocks noChangeAspect="1"/>
          </p:cNvPicPr>
          <p:nvPr/>
        </p:nvPicPr>
        <p:blipFill>
          <a:blip r:embed="rId2"/>
          <a:stretch>
            <a:fillRect/>
          </a:stretch>
        </p:blipFill>
        <p:spPr>
          <a:xfrm>
            <a:off x="732663" y="3887343"/>
            <a:ext cx="226314" cy="226314"/>
          </a:xfrm>
          <a:prstGeom prst="rect">
            <a:avLst/>
          </a:prstGeom>
        </p:spPr>
      </p:pic>
      <p:sp>
        <p:nvSpPr>
          <p:cNvPr id="10" name="Text 6"/>
          <p:cNvSpPr/>
          <p:nvPr/>
        </p:nvSpPr>
        <p:spPr>
          <a:xfrm>
            <a:off x="1188720" y="3813048"/>
            <a:ext cx="59436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Educate customers and staff on safe online practices</a:t>
            </a:r>
            <a:endParaRPr lang="en-US" sz="1300" dirty="0"/>
          </a:p>
        </p:txBody>
      </p:sp>
      <p:sp>
        <p:nvSpPr>
          <p:cNvPr id="11" name="Shape 7"/>
          <p:cNvSpPr/>
          <p:nvPr/>
        </p:nvSpPr>
        <p:spPr>
          <a:xfrm>
            <a:off x="640080" y="4389120"/>
            <a:ext cx="411480" cy="411480"/>
          </a:xfrm>
          <a:prstGeom prst="ellipse">
            <a:avLst/>
          </a:prstGeom>
          <a:solidFill>
            <a:srgbClr val="02C39A"/>
          </a:solidFill>
          <a:ln/>
        </p:spPr>
      </p:sp>
      <p:pic>
        <p:nvPicPr>
          <p:cNvPr id="12" name="Image 2" descr="/home/claude/onlineshopping/icons/trend_0B2E3D.png">    </p:cNvPr>
          <p:cNvPicPr>
            <a:picLocks noChangeAspect="1"/>
          </p:cNvPicPr>
          <p:nvPr/>
        </p:nvPicPr>
        <p:blipFill>
          <a:blip r:embed="rId3"/>
          <a:stretch>
            <a:fillRect/>
          </a:stretch>
        </p:blipFill>
        <p:spPr>
          <a:xfrm>
            <a:off x="732663" y="4481703"/>
            <a:ext cx="226314" cy="226314"/>
          </a:xfrm>
          <a:prstGeom prst="rect">
            <a:avLst/>
          </a:prstGeom>
        </p:spPr>
      </p:pic>
      <p:sp>
        <p:nvSpPr>
          <p:cNvPr id="13" name="Text 8"/>
          <p:cNvSpPr/>
          <p:nvPr/>
        </p:nvSpPr>
        <p:spPr>
          <a:xfrm>
            <a:off x="1188720" y="4407408"/>
            <a:ext cx="59436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Invest in mobile, AI, and social commerce to stay competitive</a:t>
            </a:r>
            <a:endParaRPr lang="en-US" sz="1300" dirty="0"/>
          </a:p>
        </p:txBody>
      </p:sp>
      <p:sp>
        <p:nvSpPr>
          <p:cNvPr id="14" name="Shape 9"/>
          <p:cNvSpPr/>
          <p:nvPr/>
        </p:nvSpPr>
        <p:spPr>
          <a:xfrm>
            <a:off x="7635240" y="1371600"/>
            <a:ext cx="3931920" cy="4206240"/>
          </a:xfrm>
          <a:prstGeom prst="roundRect">
            <a:avLst>
              <a:gd name="adj" fmla="val 2791"/>
            </a:avLst>
          </a:prstGeom>
          <a:solidFill>
            <a:srgbClr val="0D3547"/>
          </a:solidFill>
          <a:ln/>
        </p:spPr>
      </p:sp>
      <p:sp>
        <p:nvSpPr>
          <p:cNvPr id="15" name="Text 10"/>
          <p:cNvSpPr/>
          <p:nvPr/>
        </p:nvSpPr>
        <p:spPr>
          <a:xfrm>
            <a:off x="7909560" y="1600200"/>
            <a:ext cx="347472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Bottom line</a:t>
            </a:r>
            <a:endParaRPr lang="en-US" sz="1300" dirty="0"/>
          </a:p>
        </p:txBody>
      </p:sp>
      <p:sp>
        <p:nvSpPr>
          <p:cNvPr id="16" name="Text 11"/>
          <p:cNvSpPr/>
          <p:nvPr/>
        </p:nvSpPr>
        <p:spPr>
          <a:xfrm>
            <a:off x="7909560" y="2011680"/>
            <a:ext cx="3383280" cy="1737360"/>
          </a:xfrm>
          <a:prstGeom prst="rect">
            <a:avLst/>
          </a:prstGeom>
          <a:noFill/>
          <a:ln/>
        </p:spPr>
        <p:txBody>
          <a:bodyPr wrap="square" lIns="0" tIns="0" rIns="0" bIns="0" rtlCol="0" anchor="ctr"/>
          <a:lstStyle/>
          <a:p>
            <a:pPr indent="0" marL="0">
              <a:lnSpc>
                <a:spcPct val="130000"/>
              </a:lnSpc>
              <a:buNone/>
            </a:pPr>
            <a:r>
              <a:rPr lang="en-US" sz="1550" i="1" dirty="0">
                <a:solidFill>
                  <a:srgbClr val="FFFFFF"/>
                </a:solidFill>
                <a:latin typeface="Cambria" pitchFamily="34" charset="0"/>
                <a:ea typeface="Cambria" pitchFamily="34" charset="-122"/>
                <a:cs typeface="Cambria" pitchFamily="34" charset="-120"/>
              </a:rPr>
              <a:t>“Going digital is no longer optional — it's how businesses meet customers where they already are.”</a:t>
            </a:r>
            <a:endParaRPr lang="en-US" sz="1550" dirty="0"/>
          </a:p>
        </p:txBody>
      </p:sp>
      <p:sp>
        <p:nvSpPr>
          <p:cNvPr id="17" name="Text 12"/>
          <p:cNvSpPr/>
          <p:nvPr/>
        </p:nvSpPr>
        <p:spPr>
          <a:xfrm>
            <a:off x="7909560" y="4160520"/>
            <a:ext cx="3383280" cy="1188720"/>
          </a:xfrm>
          <a:prstGeom prst="rect">
            <a:avLst/>
          </a:prstGeom>
          <a:noFill/>
          <a:ln/>
        </p:spPr>
        <p:txBody>
          <a:bodyPr wrap="square" lIns="0" tIns="0" rIns="0" bIns="0" rtlCol="0" anchor="ctr"/>
          <a:lstStyle/>
          <a:p>
            <a:pPr indent="0" marL="0">
              <a:lnSpc>
                <a:spcPct val="120000"/>
              </a:lnSpc>
              <a:buNone/>
            </a:pPr>
            <a:r>
              <a:rPr lang="en-US" sz="1200" dirty="0">
                <a:solidFill>
                  <a:srgbClr val="B9CCD0"/>
                </a:solidFill>
                <a:latin typeface="Calibri" pitchFamily="34" charset="0"/>
                <a:ea typeface="Calibri" pitchFamily="34" charset="-122"/>
                <a:cs typeface="Calibri" pitchFamily="34" charset="-120"/>
              </a:rPr>
              <a:t>Let's keep improving how we sell, pay, and protect our customers online.</a:t>
            </a:r>
            <a:endParaRPr lang="en-US" sz="1200" dirty="0"/>
          </a:p>
        </p:txBody>
      </p:sp>
      <p:sp>
        <p:nvSpPr>
          <p:cNvPr id="18" name="Text 13"/>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9FB8BC"/>
                </a:solidFill>
                <a:latin typeface="Calibri" pitchFamily="34" charset="0"/>
                <a:ea typeface="Calibri" pitchFamily="34" charset="-122"/>
                <a:cs typeface="Calibri" pitchFamily="34" charset="-120"/>
              </a:rPr>
              <a:t>Online Shopping — Team Briefing</a:t>
            </a:r>
            <a:endParaRPr lang="en-US" sz="900" dirty="0"/>
          </a:p>
        </p:txBody>
      </p:sp>
      <p:sp>
        <p:nvSpPr>
          <p:cNvPr id="19" name="Text 14"/>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9FB8BC"/>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7" presetID="10" presetClass="entr" presetSubtype="0" fill="hold" grpId="0">
                      <p:stCondLst>
                        <p:cond delay="10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1B2A2E"/>
                </a:solidFill>
                <a:latin typeface="Cambria" pitchFamily="34" charset="0"/>
                <a:ea typeface="Cambria" pitchFamily="34" charset="-122"/>
                <a:cs typeface="Cambria" pitchFamily="34" charset="-120"/>
              </a:rPr>
              <a:t>Sources &amp; References</a:t>
            </a:r>
            <a:endParaRPr lang="en-US" sz="3000" dirty="0"/>
          </a:p>
        </p:txBody>
      </p:sp>
      <p:sp>
        <p:nvSpPr>
          <p:cNvPr id="3" name="Shape 1"/>
          <p:cNvSpPr/>
          <p:nvPr/>
        </p:nvSpPr>
        <p:spPr>
          <a:xfrm>
            <a:off x="640080" y="1673352"/>
            <a:ext cx="91440" cy="91440"/>
          </a:xfrm>
          <a:prstGeom prst="ellipse">
            <a:avLst/>
          </a:prstGeom>
          <a:solidFill>
            <a:srgbClr val="028090"/>
          </a:solidFill>
          <a:ln/>
        </p:spPr>
      </p:sp>
      <p:sp>
        <p:nvSpPr>
          <p:cNvPr id="4" name="Text 2"/>
          <p:cNvSpPr/>
          <p:nvPr/>
        </p:nvSpPr>
        <p:spPr>
          <a:xfrm>
            <a:off x="914400" y="1545336"/>
            <a:ext cx="9601200" cy="384048"/>
          </a:xfrm>
          <a:prstGeom prst="rect">
            <a:avLst/>
          </a:prstGeom>
          <a:noFill/>
          <a:ln/>
        </p:spPr>
        <p:txBody>
          <a:bodyPr wrap="square" lIns="0" tIns="0" rIns="0" bIns="0" rtlCol="0" anchor="ctr"/>
          <a:lstStyle/>
          <a:p>
            <a:pPr indent="0" marL="0">
              <a:buNone/>
            </a:pPr>
            <a:r>
              <a:rPr lang="en-US" sz="1350" dirty="0">
                <a:solidFill>
                  <a:srgbClr val="1B2A2E"/>
                </a:solidFill>
                <a:latin typeface="Calibri" pitchFamily="34" charset="0"/>
                <a:ea typeface="Calibri" pitchFamily="34" charset="-122"/>
                <a:cs typeface="Calibri" pitchFamily="34" charset="-120"/>
              </a:rPr>
              <a:t>Shopify — "Global Ecommerce Statistics and Trends" (2026)</a:t>
            </a:r>
            <a:endParaRPr lang="en-US" sz="1350" dirty="0"/>
          </a:p>
        </p:txBody>
      </p:sp>
      <p:sp>
        <p:nvSpPr>
          <p:cNvPr id="5" name="Shape 3"/>
          <p:cNvSpPr/>
          <p:nvPr/>
        </p:nvSpPr>
        <p:spPr>
          <a:xfrm>
            <a:off x="640080" y="2203704"/>
            <a:ext cx="91440" cy="91440"/>
          </a:xfrm>
          <a:prstGeom prst="ellipse">
            <a:avLst/>
          </a:prstGeom>
          <a:solidFill>
            <a:srgbClr val="028090"/>
          </a:solidFill>
          <a:ln/>
        </p:spPr>
      </p:sp>
      <p:sp>
        <p:nvSpPr>
          <p:cNvPr id="6" name="Text 4"/>
          <p:cNvSpPr/>
          <p:nvPr/>
        </p:nvSpPr>
        <p:spPr>
          <a:xfrm>
            <a:off x="914400" y="2075688"/>
            <a:ext cx="9601200" cy="384048"/>
          </a:xfrm>
          <a:prstGeom prst="rect">
            <a:avLst/>
          </a:prstGeom>
          <a:noFill/>
          <a:ln/>
        </p:spPr>
        <p:txBody>
          <a:bodyPr wrap="square" lIns="0" tIns="0" rIns="0" bIns="0" rtlCol="0" anchor="ctr"/>
          <a:lstStyle/>
          <a:p>
            <a:pPr indent="0" marL="0">
              <a:buNone/>
            </a:pPr>
            <a:r>
              <a:rPr lang="en-US" sz="1350" dirty="0">
                <a:solidFill>
                  <a:srgbClr val="1B2A2E"/>
                </a:solidFill>
                <a:latin typeface="Calibri" pitchFamily="34" charset="0"/>
                <a:ea typeface="Calibri" pitchFamily="34" charset="-122"/>
                <a:cs typeface="Calibri" pitchFamily="34" charset="-120"/>
              </a:rPr>
              <a:t>SellersCommerce — "Ecommerce Statistics In 2026 (Global and U.S. Data)"</a:t>
            </a:r>
            <a:endParaRPr lang="en-US" sz="1350" dirty="0"/>
          </a:p>
        </p:txBody>
      </p:sp>
      <p:sp>
        <p:nvSpPr>
          <p:cNvPr id="7" name="Shape 5"/>
          <p:cNvSpPr/>
          <p:nvPr/>
        </p:nvSpPr>
        <p:spPr>
          <a:xfrm>
            <a:off x="640080" y="2734056"/>
            <a:ext cx="91440" cy="91440"/>
          </a:xfrm>
          <a:prstGeom prst="ellipse">
            <a:avLst/>
          </a:prstGeom>
          <a:solidFill>
            <a:srgbClr val="028090"/>
          </a:solidFill>
          <a:ln/>
        </p:spPr>
      </p:sp>
      <p:sp>
        <p:nvSpPr>
          <p:cNvPr id="8" name="Text 6"/>
          <p:cNvSpPr/>
          <p:nvPr/>
        </p:nvSpPr>
        <p:spPr>
          <a:xfrm>
            <a:off x="914400" y="2606040"/>
            <a:ext cx="9601200" cy="384048"/>
          </a:xfrm>
          <a:prstGeom prst="rect">
            <a:avLst/>
          </a:prstGeom>
          <a:noFill/>
          <a:ln/>
        </p:spPr>
        <p:txBody>
          <a:bodyPr wrap="square" lIns="0" tIns="0" rIns="0" bIns="0" rtlCol="0" anchor="ctr"/>
          <a:lstStyle/>
          <a:p>
            <a:pPr indent="0" marL="0">
              <a:buNone/>
            </a:pPr>
            <a:r>
              <a:rPr lang="en-US" sz="1350" dirty="0">
                <a:solidFill>
                  <a:srgbClr val="1B2A2E"/>
                </a:solidFill>
                <a:latin typeface="Calibri" pitchFamily="34" charset="0"/>
                <a:ea typeface="Calibri" pitchFamily="34" charset="-122"/>
                <a:cs typeface="Calibri" pitchFamily="34" charset="-120"/>
              </a:rPr>
              <a:t>SeoProfy — "Ecommerce Statistics: Data &amp; Trends in 2026"</a:t>
            </a:r>
            <a:endParaRPr lang="en-US" sz="1350" dirty="0"/>
          </a:p>
        </p:txBody>
      </p:sp>
      <p:sp>
        <p:nvSpPr>
          <p:cNvPr id="9" name="Shape 7"/>
          <p:cNvSpPr/>
          <p:nvPr/>
        </p:nvSpPr>
        <p:spPr>
          <a:xfrm>
            <a:off x="640080" y="3264408"/>
            <a:ext cx="91440" cy="91440"/>
          </a:xfrm>
          <a:prstGeom prst="ellipse">
            <a:avLst/>
          </a:prstGeom>
          <a:solidFill>
            <a:srgbClr val="028090"/>
          </a:solidFill>
          <a:ln/>
        </p:spPr>
      </p:sp>
      <p:sp>
        <p:nvSpPr>
          <p:cNvPr id="10" name="Text 8"/>
          <p:cNvSpPr/>
          <p:nvPr/>
        </p:nvSpPr>
        <p:spPr>
          <a:xfrm>
            <a:off x="914400" y="3136392"/>
            <a:ext cx="9601200" cy="384048"/>
          </a:xfrm>
          <a:prstGeom prst="rect">
            <a:avLst/>
          </a:prstGeom>
          <a:noFill/>
          <a:ln/>
        </p:spPr>
        <p:txBody>
          <a:bodyPr wrap="square" lIns="0" tIns="0" rIns="0" bIns="0" rtlCol="0" anchor="ctr"/>
          <a:lstStyle/>
          <a:p>
            <a:pPr indent="0" marL="0">
              <a:buNone/>
            </a:pPr>
            <a:r>
              <a:rPr lang="en-US" sz="1350" dirty="0">
                <a:solidFill>
                  <a:srgbClr val="1B2A2E"/>
                </a:solidFill>
                <a:latin typeface="Calibri" pitchFamily="34" charset="0"/>
                <a:ea typeface="Calibri" pitchFamily="34" charset="-122"/>
                <a:cs typeface="Calibri" pitchFamily="34" charset="-120"/>
              </a:rPr>
              <a:t>EmberTribe — "Ecommerce Statistics: Key Numbers for 2026"</a:t>
            </a:r>
            <a:endParaRPr lang="en-US" sz="1350" dirty="0"/>
          </a:p>
        </p:txBody>
      </p:sp>
      <p:sp>
        <p:nvSpPr>
          <p:cNvPr id="11" name="Shape 9"/>
          <p:cNvSpPr/>
          <p:nvPr/>
        </p:nvSpPr>
        <p:spPr>
          <a:xfrm>
            <a:off x="640080" y="3794760"/>
            <a:ext cx="91440" cy="91440"/>
          </a:xfrm>
          <a:prstGeom prst="ellipse">
            <a:avLst/>
          </a:prstGeom>
          <a:solidFill>
            <a:srgbClr val="028090"/>
          </a:solidFill>
          <a:ln/>
        </p:spPr>
      </p:sp>
      <p:sp>
        <p:nvSpPr>
          <p:cNvPr id="12" name="Text 10"/>
          <p:cNvSpPr/>
          <p:nvPr/>
        </p:nvSpPr>
        <p:spPr>
          <a:xfrm>
            <a:off x="914400" y="3666744"/>
            <a:ext cx="9601200" cy="384048"/>
          </a:xfrm>
          <a:prstGeom prst="rect">
            <a:avLst/>
          </a:prstGeom>
          <a:noFill/>
          <a:ln/>
        </p:spPr>
        <p:txBody>
          <a:bodyPr wrap="square" lIns="0" tIns="0" rIns="0" bIns="0" rtlCol="0" anchor="ctr"/>
          <a:lstStyle/>
          <a:p>
            <a:pPr indent="0" marL="0">
              <a:buNone/>
            </a:pPr>
            <a:r>
              <a:rPr lang="en-US" sz="1350" dirty="0">
                <a:solidFill>
                  <a:srgbClr val="1B2A2E"/>
                </a:solidFill>
                <a:latin typeface="Calibri" pitchFamily="34" charset="0"/>
                <a:ea typeface="Calibri" pitchFamily="34" charset="-122"/>
                <a:cs typeface="Calibri" pitchFamily="34" charset="-120"/>
              </a:rPr>
              <a:t>Ringly — "52 Ecommerce Statistics You Need to Know in 2026"</a:t>
            </a:r>
            <a:endParaRPr lang="en-US" sz="1350" dirty="0"/>
          </a:p>
        </p:txBody>
      </p:sp>
      <p:sp>
        <p:nvSpPr>
          <p:cNvPr id="13" name="Shape 11"/>
          <p:cNvSpPr/>
          <p:nvPr/>
        </p:nvSpPr>
        <p:spPr>
          <a:xfrm>
            <a:off x="640080" y="4325112"/>
            <a:ext cx="91440" cy="91440"/>
          </a:xfrm>
          <a:prstGeom prst="ellipse">
            <a:avLst/>
          </a:prstGeom>
          <a:solidFill>
            <a:srgbClr val="028090"/>
          </a:solidFill>
          <a:ln/>
        </p:spPr>
      </p:sp>
      <p:sp>
        <p:nvSpPr>
          <p:cNvPr id="14" name="Text 12"/>
          <p:cNvSpPr/>
          <p:nvPr/>
        </p:nvSpPr>
        <p:spPr>
          <a:xfrm>
            <a:off x="914400" y="4197096"/>
            <a:ext cx="9601200" cy="384048"/>
          </a:xfrm>
          <a:prstGeom prst="rect">
            <a:avLst/>
          </a:prstGeom>
          <a:noFill/>
          <a:ln/>
        </p:spPr>
        <p:txBody>
          <a:bodyPr wrap="square" lIns="0" tIns="0" rIns="0" bIns="0" rtlCol="0" anchor="ctr"/>
          <a:lstStyle/>
          <a:p>
            <a:pPr indent="0" marL="0">
              <a:buNone/>
            </a:pPr>
            <a:r>
              <a:rPr lang="en-US" sz="1350" dirty="0">
                <a:solidFill>
                  <a:srgbClr val="1B2A2E"/>
                </a:solidFill>
                <a:latin typeface="Calibri" pitchFamily="34" charset="0"/>
                <a:ea typeface="Calibri" pitchFamily="34" charset="-122"/>
                <a:cs typeface="Calibri" pitchFamily="34" charset="-120"/>
              </a:rPr>
              <a:t>Capital One Shopping Research — "eCommerce Statistics (2026)"</a:t>
            </a:r>
            <a:endParaRPr lang="en-US" sz="1350" dirty="0"/>
          </a:p>
        </p:txBody>
      </p:sp>
      <p:sp>
        <p:nvSpPr>
          <p:cNvPr id="15" name="Shape 13"/>
          <p:cNvSpPr/>
          <p:nvPr/>
        </p:nvSpPr>
        <p:spPr>
          <a:xfrm>
            <a:off x="548640" y="4919472"/>
            <a:ext cx="10607040" cy="0"/>
          </a:xfrm>
          <a:prstGeom prst="line">
            <a:avLst/>
          </a:prstGeom>
          <a:noFill/>
          <a:ln w="12700">
            <a:solidFill>
              <a:srgbClr val="DCE7E6"/>
            </a:solidFill>
            <a:prstDash val="solid"/>
          </a:ln>
        </p:spPr>
      </p:sp>
      <p:sp>
        <p:nvSpPr>
          <p:cNvPr id="16" name="Text 14"/>
          <p:cNvSpPr/>
          <p:nvPr/>
        </p:nvSpPr>
        <p:spPr>
          <a:xfrm>
            <a:off x="548640" y="5102352"/>
            <a:ext cx="10607040" cy="457200"/>
          </a:xfrm>
          <a:prstGeom prst="rect">
            <a:avLst/>
          </a:prstGeom>
          <a:noFill/>
          <a:ln/>
        </p:spPr>
        <p:txBody>
          <a:bodyPr wrap="square" lIns="0" tIns="0" rIns="0" bIns="0" rtlCol="0" anchor="ctr"/>
          <a:lstStyle/>
          <a:p>
            <a:pPr indent="0" marL="0">
              <a:buNone/>
            </a:pPr>
            <a:r>
              <a:rPr lang="en-US" sz="1100" i="1" dirty="0">
                <a:solidFill>
                  <a:srgbClr val="5C7378"/>
                </a:solidFill>
                <a:latin typeface="Calibri" pitchFamily="34" charset="0"/>
                <a:ea typeface="Calibri" pitchFamily="34" charset="-122"/>
                <a:cs typeface="Calibri" pitchFamily="34" charset="-120"/>
              </a:rPr>
              <a:t>Figures reflect the most recent forecasts available as of mid-2026 and may be revised as new data is published.</a:t>
            </a:r>
            <a:endParaRPr lang="en-US" sz="1100" dirty="0"/>
          </a:p>
        </p:txBody>
      </p:sp>
      <p:sp>
        <p:nvSpPr>
          <p:cNvPr id="17" name="Text 15"/>
          <p:cNvSpPr/>
          <p:nvPr/>
        </p:nvSpPr>
        <p:spPr>
          <a:xfrm>
            <a:off x="457200" y="6537960"/>
            <a:ext cx="5486400" cy="274320"/>
          </a:xfrm>
          <a:prstGeom prst="rect">
            <a:avLst/>
          </a:prstGeom>
          <a:noFill/>
          <a:ln/>
        </p:spPr>
        <p:txBody>
          <a:bodyPr wrap="square" lIns="0" tIns="0" rIns="0" bIns="0" rtlCol="0" anchor="ctr"/>
          <a:lstStyle/>
          <a:p>
            <a:pPr indent="0" marL="0">
              <a:buNone/>
            </a:pPr>
            <a:r>
              <a:rPr lang="en-US" sz="900" dirty="0">
                <a:solidFill>
                  <a:srgbClr val="5C7378"/>
                </a:solidFill>
                <a:latin typeface="Calibri" pitchFamily="34" charset="0"/>
                <a:ea typeface="Calibri" pitchFamily="34" charset="-122"/>
                <a:cs typeface="Calibri" pitchFamily="34" charset="-120"/>
              </a:rPr>
              <a:t>Online Shopping — Team Briefing</a:t>
            </a:r>
            <a:endParaRPr lang="en-US" sz="900" dirty="0"/>
          </a:p>
        </p:txBody>
      </p:sp>
      <p:sp>
        <p:nvSpPr>
          <p:cNvPr id="18" name="Text 16"/>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5C7378"/>
                </a:solidFill>
                <a:latin typeface="Calibri" pitchFamily="34" charset="0"/>
                <a:ea typeface="Calibri" pitchFamily="34" charset="-122"/>
                <a:cs typeface="Calibri" pitchFamily="34" charset="-120"/>
              </a:rPr>
              <a:t>12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presetID="10" presetClass="entr" presetSubtype="0" fill="hold" grpId="0">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50"/>
                            <p:tgtEl>
                              <p:spTgt spid="2"/>
                            </p:tgtEl>
                          </p:cBhvr>
                        </p:animEffect>
                      </p:childTnLst>
                    </p:cTn>
                  </p:par>
                  <p:par>
                    <p:cTn id="15" presetID="10" presetClass="entr" presetSubtype="0" fill="hold" grpId="0">
                      <p:stCondLst>
                        <p:cond delay="7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350"/>
                            <p:tgtEl>
                              <p:spTgt spid="3"/>
                            </p:tgtEl>
                          </p:cBhvr>
                        </p:animEffect>
                      </p:childTnLst>
                    </p:cTn>
                  </p:par>
                  <p:par>
                    <p:cTn id="18" presetID="10" presetClass="entr" presetSubtype="0" fill="hold" grpId="0">
                      <p:stCondLst>
                        <p:cond delay="1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childTnLst>
                    </p:cTn>
                  </p:par>
                  <p:par>
                    <p:cTn id="21" presetID="10" presetClass="entr" presetSubtype="0" fill="hold" grpId="0">
                      <p:stCondLst>
                        <p:cond delay="21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50"/>
                            <p:tgtEl>
                              <p:spTgt spid="5"/>
                            </p:tgtEl>
                          </p:cBhvr>
                        </p:animEffect>
                      </p:childTnLst>
                    </p:cTn>
                  </p:par>
                  <p:par>
                    <p:cTn id="24" presetID="10" presetClass="entr" presetSubtype="0" fill="hold" grpId="0">
                      <p:stCondLst>
                        <p:cond delay="28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50"/>
                            <p:tgtEl>
                              <p:spTgt spid="6"/>
                            </p:tgtEl>
                          </p:cBhvr>
                        </p:animEffect>
                      </p:childTnLst>
                    </p:cTn>
                  </p:par>
                  <p:par>
                    <p:cTn id="27" presetID="10" presetClass="entr" presetSubtype="0" fill="hold" grpId="0">
                      <p:stCondLst>
                        <p:cond delay="3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50"/>
                            <p:tgtEl>
                              <p:spTgt spid="7"/>
                            </p:tgtEl>
                          </p:cBhvr>
                        </p:animEffect>
                      </p:childTnLst>
                    </p:cTn>
                  </p:par>
                  <p:par>
                    <p:cTn id="30" presetID="10" presetClass="entr" presetSubtype="0" fill="hold" grpId="0">
                      <p:stCondLst>
                        <p:cond delay="4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50"/>
                            <p:tgtEl>
                              <p:spTgt spid="8"/>
                            </p:tgtEl>
                          </p:cBhvr>
                        </p:animEffect>
                      </p:childTnLst>
                    </p:cTn>
                  </p:par>
                  <p:par>
                    <p:cTn id="33" presetID="10" presetClass="entr" presetSubtype="0" fill="hold" grpId="0">
                      <p:stCondLst>
                        <p:cond delay="49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childTnLst>
                    </p:cTn>
                  </p:par>
                  <p:par>
                    <p:cTn id="36" presetID="10" presetClass="entr" presetSubtype="0" fill="hold" grpId="0">
                      <p:stCondLst>
                        <p:cond delay="5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50"/>
                            <p:tgtEl>
                              <p:spTgt spid="10"/>
                            </p:tgtEl>
                          </p:cBhvr>
                        </p:animEffect>
                      </p:childTnLst>
                    </p:cTn>
                  </p:par>
                  <p:par>
                    <p:cTn id="39" presetID="10" presetClass="entr" presetSubtype="0" fill="hold" grpId="0">
                      <p:stCondLst>
                        <p:cond delay="6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childTnLst>
                    </p:cTn>
                  </p:par>
                  <p:par>
                    <p:cTn id="42" presetID="10" presetClass="entr" presetSubtype="0" fill="hold" grpId="0">
                      <p:stCondLst>
                        <p:cond delay="70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50"/>
                            <p:tgtEl>
                              <p:spTgt spid="12"/>
                            </p:tgtEl>
                          </p:cBhvr>
                        </p:animEffect>
                      </p:childTnLst>
                    </p:cTn>
                  </p:par>
                  <p:par>
                    <p:cTn id="45" presetID="10" presetClass="entr" presetSubtype="0" fill="hold" grpId="0">
                      <p:stCondLst>
                        <p:cond delay="77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childTnLst>
                    </p:cTn>
                  </p:par>
                  <p:par>
                    <p:cTn id="48" presetID="10" presetClass="entr" presetSubtype="0" fill="hold" grpId="0">
                      <p:stCondLst>
                        <p:cond delay="84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51" presetID="10" presetClass="entr" presetSubtype="0" fill="hold" grpId="0">
                      <p:stCondLst>
                        <p:cond delay="91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4" presetID="10" presetClass="entr" presetSubtype="0" fill="hold" grpId="0">
                      <p:stCondLst>
                        <p:cond delay="9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2026-08-08T13:36:14Z</dcterms:created>
  <dcterms:modified xsi:type="dcterms:W3CDTF">2026-08-08T13:36:14Z</dcterms:modified>
</cp:coreProperties>
</file>